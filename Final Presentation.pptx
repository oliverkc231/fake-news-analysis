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Tight Medium"/>
      <p:regular r:id="rId15"/>
      <p:bold r:id="rId16"/>
      <p:italic r:id="rId17"/>
      <p:boldItalic r:id="rId18"/>
    </p:embeddedFont>
    <p:embeddedFont>
      <p:font typeface="Inter Tight"/>
      <p:regular r:id="rId19"/>
      <p:bold r:id="rId20"/>
      <p:italic r:id="rId21"/>
      <p:boldItalic r:id="rId22"/>
    </p:embeddedFont>
    <p:embeddedFont>
      <p:font typeface="Inter Tight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-bold.fntdata"/><Relationship Id="rId22" Type="http://schemas.openxmlformats.org/officeDocument/2006/relationships/font" Target="fonts/InterTight-boldItalic.fntdata"/><Relationship Id="rId21" Type="http://schemas.openxmlformats.org/officeDocument/2006/relationships/font" Target="fonts/InterTight-italic.fntdata"/><Relationship Id="rId24" Type="http://schemas.openxmlformats.org/officeDocument/2006/relationships/font" Target="fonts/InterTightSemiBold-bold.fntdata"/><Relationship Id="rId23" Type="http://schemas.openxmlformats.org/officeDocument/2006/relationships/font" Target="fonts/InterTigh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TightSemiBold-boldItalic.fntdata"/><Relationship Id="rId25" Type="http://schemas.openxmlformats.org/officeDocument/2006/relationships/font" Target="fonts/InterTigh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TightMedium-regular.fntdata"/><Relationship Id="rId14" Type="http://schemas.openxmlformats.org/officeDocument/2006/relationships/slide" Target="slides/slide9.xml"/><Relationship Id="rId17" Type="http://schemas.openxmlformats.org/officeDocument/2006/relationships/font" Target="fonts/InterTightMedium-italic.fntdata"/><Relationship Id="rId16" Type="http://schemas.openxmlformats.org/officeDocument/2006/relationships/font" Target="fonts/InterTightMedium-bold.fntdata"/><Relationship Id="rId19" Type="http://schemas.openxmlformats.org/officeDocument/2006/relationships/font" Target="fonts/InterTight-regular.fntdata"/><Relationship Id="rId18" Type="http://schemas.openxmlformats.org/officeDocument/2006/relationships/font" Target="fonts/InterTigh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62c5b89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62c5b89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62c5b898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562c5b898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62c5b8985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62c5b8985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62c5b8985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562c5b8985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Data Cleaning/Collection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Removing stop words (it, the, and)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Tokenization - long text is divided into </a:t>
            </a:r>
            <a:r>
              <a:rPr lang="en"/>
              <a:t>meaningful</a:t>
            </a:r>
            <a:r>
              <a:rPr lang="en"/>
              <a:t> word units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Lemmatization</a:t>
            </a:r>
            <a:r>
              <a:rPr lang="en"/>
              <a:t> - words are returned to their base form (running/runs/ran all turn into run)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Topic 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Using LDA model to identify 6 topics within each year of fake news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Each topic are words/phrases that relate to one another and an overall theme can be determined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Emotional 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Using transformers package with preloaded emotion libraries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This specific package detects 7 different emotions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62c5b8985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62c5b8985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62c5b8985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562c5b8985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62c5b8985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62c5b8985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62c5b8985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62c5b8985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62c5b8985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62c5b8985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299808">
            <a:off x="124383" y="-559521"/>
            <a:ext cx="8900029" cy="6258229"/>
            <a:chOff x="124223" y="-559280"/>
            <a:chExt cx="8900025" cy="6258226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24223" y="-78561"/>
              <a:ext cx="8900025" cy="5296800"/>
              <a:chOff x="124223" y="-78561"/>
              <a:chExt cx="8900025" cy="5296800"/>
            </a:xfrm>
          </p:grpSpPr>
          <p:sp>
            <p:nvSpPr>
              <p:cNvPr id="12" name="Google Shape;12;p2"/>
              <p:cNvSpPr/>
              <p:nvPr/>
            </p:nvSpPr>
            <p:spPr>
              <a:xfrm rot="-1623">
                <a:off x="7117071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flipH="1" rot="-1487">
                <a:off x="124823" y="-77211"/>
                <a:ext cx="6242101" cy="5294100"/>
              </a:xfrm>
              <a:prstGeom prst="snip1Rect">
                <a:avLst>
                  <a:gd fmla="val 4248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flipH="1" rot="10798513">
                <a:off x="2781248" y="-76291"/>
                <a:ext cx="6242401" cy="5289900"/>
              </a:xfrm>
              <a:prstGeom prst="snip1Rect">
                <a:avLst>
                  <a:gd fmla="val 42496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1623">
                <a:off x="125118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-4516116">
              <a:off x="314265" y="-331820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6283884">
              <a:off x="6963097" y="3633506"/>
              <a:ext cx="1871106" cy="18379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826325" y="1559575"/>
            <a:ext cx="5494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826325" y="3252475"/>
            <a:ext cx="5494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Inter Tight Medium"/>
              <a:buNone/>
              <a:defRPr sz="25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3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" name="Google Shape;65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69" name="Google Shape;69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" name="Google Shape;97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" name="Google Shape;121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2" name="Google Shape;122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3"/>
          <p:cNvGrpSpPr/>
          <p:nvPr/>
        </p:nvGrpSpPr>
        <p:grpSpPr>
          <a:xfrm>
            <a:off x="75" y="256675"/>
            <a:ext cx="3798141" cy="1190474"/>
            <a:chOff x="75" y="256675"/>
            <a:chExt cx="3798141" cy="1190474"/>
          </a:xfrm>
        </p:grpSpPr>
        <p:sp>
          <p:nvSpPr>
            <p:cNvPr id="140" name="Google Shape;140;p23"/>
            <p:cNvSpPr/>
            <p:nvPr/>
          </p:nvSpPr>
          <p:spPr>
            <a:xfrm flipH="1" rot="10800000">
              <a:off x="75" y="256675"/>
              <a:ext cx="3798000" cy="11904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flipH="1" rot="-10795068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142" name="Google Shape;142;p23"/>
          <p:cNvSpPr txBox="1"/>
          <p:nvPr>
            <p:ph type="title"/>
          </p:nvPr>
        </p:nvSpPr>
        <p:spPr>
          <a:xfrm>
            <a:off x="333925" y="544250"/>
            <a:ext cx="30399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" type="subTitle"/>
          </p:nvPr>
        </p:nvSpPr>
        <p:spPr>
          <a:xfrm>
            <a:off x="1149126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2" type="subTitle"/>
          </p:nvPr>
        </p:nvSpPr>
        <p:spPr>
          <a:xfrm>
            <a:off x="1149126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3" type="subTitle"/>
          </p:nvPr>
        </p:nvSpPr>
        <p:spPr>
          <a:xfrm>
            <a:off x="1149126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4" type="subTitle"/>
          </p:nvPr>
        </p:nvSpPr>
        <p:spPr>
          <a:xfrm>
            <a:off x="1149126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5" type="subTitle"/>
          </p:nvPr>
        </p:nvSpPr>
        <p:spPr>
          <a:xfrm>
            <a:off x="1149126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6" type="subTitle"/>
          </p:nvPr>
        </p:nvSpPr>
        <p:spPr>
          <a:xfrm>
            <a:off x="5327851" y="2348550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7" type="subTitle"/>
          </p:nvPr>
        </p:nvSpPr>
        <p:spPr>
          <a:xfrm>
            <a:off x="5327851" y="2802869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8" type="subTitle"/>
          </p:nvPr>
        </p:nvSpPr>
        <p:spPr>
          <a:xfrm>
            <a:off x="5327851" y="3257187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9" type="subTitle"/>
          </p:nvPr>
        </p:nvSpPr>
        <p:spPr>
          <a:xfrm>
            <a:off x="5327851" y="3711506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3" type="subTitle"/>
          </p:nvPr>
        </p:nvSpPr>
        <p:spPr>
          <a:xfrm>
            <a:off x="5327851" y="4165824"/>
            <a:ext cx="3234300" cy="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 type="tx">
  <p:cSld name="TITLE_AND_BODY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4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4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ITLE_AND_BODY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3" name="Google Shape;163;p25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/>
            </a:lvl1pPr>
            <a:lvl2pPr lvl="1" rtl="0" algn="r">
              <a:buNone/>
              <a:defRPr/>
            </a:lvl2pPr>
            <a:lvl3pPr lvl="2" rtl="0" algn="r">
              <a:buNone/>
              <a:defRPr/>
            </a:lvl3pPr>
            <a:lvl4pPr lvl="3" rtl="0" algn="r">
              <a:buNone/>
              <a:defRPr/>
            </a:lvl4pPr>
            <a:lvl5pPr lvl="4" rtl="0" algn="r">
              <a:buNone/>
              <a:defRPr/>
            </a:lvl5pPr>
            <a:lvl6pPr lvl="5" rtl="0" algn="r">
              <a:buNone/>
              <a:defRPr/>
            </a:lvl6pPr>
            <a:lvl7pPr lvl="6" rtl="0" algn="r">
              <a:buNone/>
              <a:defRPr/>
            </a:lvl7pPr>
            <a:lvl8pPr lvl="7" rtl="0" algn="r">
              <a:buNone/>
              <a:defRPr/>
            </a:lvl8pPr>
            <a:lvl9pPr lvl="8" rtl="0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8108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38108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25"/>
          <p:cNvSpPr txBox="1"/>
          <p:nvPr>
            <p:ph idx="5" type="subTitle"/>
          </p:nvPr>
        </p:nvSpPr>
        <p:spPr>
          <a:xfrm>
            <a:off x="4566932" y="1182925"/>
            <a:ext cx="41490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6" type="body"/>
          </p:nvPr>
        </p:nvSpPr>
        <p:spPr>
          <a:xfrm>
            <a:off x="4566932" y="1521627"/>
            <a:ext cx="41490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0" name="Google Shape;170;p25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woColTx">
  <p:cSld name="TITLE_AND_TWO_COLUMNS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174" name="Google Shape;174;p2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175" name="Google Shape;175;p2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77" name="Google Shape;177;p26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6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6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82" name="Google Shape;182;p26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 type="titleOnly">
  <p:cSld name="TITLE_ONLY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>
            <p:ph idx="2" type="pic"/>
          </p:nvPr>
        </p:nvSpPr>
        <p:spPr>
          <a:xfrm rot="299866">
            <a:off x="764484" y="2679783"/>
            <a:ext cx="1938771" cy="1938771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5" name="Google Shape;185;p27"/>
          <p:cNvSpPr/>
          <p:nvPr>
            <p:ph idx="3" type="pic"/>
          </p:nvPr>
        </p:nvSpPr>
        <p:spPr>
          <a:xfrm rot="-299913">
            <a:off x="3602840" y="2620826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4" type="pic"/>
          </p:nvPr>
        </p:nvSpPr>
        <p:spPr>
          <a:xfrm rot="299913">
            <a:off x="6440891" y="2679947"/>
            <a:ext cx="1938472" cy="1938472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7"/>
          <p:cNvSpPr txBox="1"/>
          <p:nvPr>
            <p:ph idx="1" type="subTitle"/>
          </p:nvPr>
        </p:nvSpPr>
        <p:spPr>
          <a:xfrm>
            <a:off x="381063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5" type="body"/>
          </p:nvPr>
        </p:nvSpPr>
        <p:spPr>
          <a:xfrm>
            <a:off x="381063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0" name="Google Shape;190;p27"/>
          <p:cNvSpPr txBox="1"/>
          <p:nvPr>
            <p:ph idx="6" type="subTitle"/>
          </p:nvPr>
        </p:nvSpPr>
        <p:spPr>
          <a:xfrm>
            <a:off x="3219300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7" type="body"/>
          </p:nvPr>
        </p:nvSpPr>
        <p:spPr>
          <a:xfrm>
            <a:off x="3219300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2" name="Google Shape;192;p27"/>
          <p:cNvSpPr txBox="1"/>
          <p:nvPr>
            <p:ph idx="8" type="subTitle"/>
          </p:nvPr>
        </p:nvSpPr>
        <p:spPr>
          <a:xfrm>
            <a:off x="6057538" y="1182922"/>
            <a:ext cx="27054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9" type="body"/>
          </p:nvPr>
        </p:nvSpPr>
        <p:spPr>
          <a:xfrm>
            <a:off x="6057538" y="1521625"/>
            <a:ext cx="2705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1">
  <p:cSld name="ONE_COLUMN_TEXT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left">
  <p:cSld name="ONE_COLUMN_TEXT_1"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9"/>
          <p:cNvGrpSpPr/>
          <p:nvPr/>
        </p:nvGrpSpPr>
        <p:grpSpPr>
          <a:xfrm>
            <a:off x="433788" y="1202208"/>
            <a:ext cx="2632899" cy="904617"/>
            <a:chOff x="433788" y="1202208"/>
            <a:chExt cx="2632899" cy="904617"/>
          </a:xfrm>
        </p:grpSpPr>
        <p:sp>
          <p:nvSpPr>
            <p:cNvPr id="206" name="Google Shape;206;p29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07" name="Google Shape;207;p29"/>
            <p:cNvSpPr/>
            <p:nvPr/>
          </p:nvSpPr>
          <p:spPr>
            <a:xfrm rot="-6523">
              <a:off x="2750486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08" name="Google Shape;208;p29"/>
          <p:cNvSpPr txBox="1"/>
          <p:nvPr>
            <p:ph idx="1" type="subTitle"/>
          </p:nvPr>
        </p:nvSpPr>
        <p:spPr>
          <a:xfrm>
            <a:off x="437000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09" name="Google Shape;209;p29"/>
          <p:cNvSpPr txBox="1"/>
          <p:nvPr>
            <p:ph idx="2" type="body"/>
          </p:nvPr>
        </p:nvSpPr>
        <p:spPr>
          <a:xfrm>
            <a:off x="437000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29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3">
          <p15:clr>
            <a:srgbClr val="E46962"/>
          </p15:clr>
        </p15:guide>
        <p15:guide id="2" orient="horz" pos="1353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middle">
  <p:cSld name="ONE_COLUMN_TEXT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0"/>
          <p:cNvGrpSpPr/>
          <p:nvPr/>
        </p:nvGrpSpPr>
        <p:grpSpPr>
          <a:xfrm>
            <a:off x="3253950" y="1202208"/>
            <a:ext cx="2632899" cy="904617"/>
            <a:chOff x="3253950" y="1202208"/>
            <a:chExt cx="2632899" cy="904617"/>
          </a:xfrm>
        </p:grpSpPr>
        <p:sp>
          <p:nvSpPr>
            <p:cNvPr id="217" name="Google Shape;217;p30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fmla="val 351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 rot="-6523">
              <a:off x="5570649" y="1202508"/>
              <a:ext cx="316201" cy="31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19" name="Google Shape;219;p30"/>
          <p:cNvSpPr txBox="1"/>
          <p:nvPr>
            <p:ph idx="1" type="subTitle"/>
          </p:nvPr>
        </p:nvSpPr>
        <p:spPr>
          <a:xfrm>
            <a:off x="3257163" y="1202200"/>
            <a:ext cx="2322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20" name="Google Shape;220;p30"/>
          <p:cNvSpPr txBox="1"/>
          <p:nvPr>
            <p:ph idx="2" type="body"/>
          </p:nvPr>
        </p:nvSpPr>
        <p:spPr>
          <a:xfrm>
            <a:off x="3257163" y="1460325"/>
            <a:ext cx="26328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30"/>
          <p:cNvSpPr/>
          <p:nvPr>
            <p:ph idx="3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25" name="Google Shape;225;p30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active pop-up right, long text">
  <p:cSld name="ONE_COLUMN_TEXT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/>
          <p:nvPr/>
        </p:nvSpPr>
        <p:spPr>
          <a:xfrm>
            <a:off x="3253825" y="1202325"/>
            <a:ext cx="5453100" cy="904500"/>
          </a:xfrm>
          <a:prstGeom prst="snip1Rect">
            <a:avLst>
              <a:gd fmla="val 3501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28" name="Google Shape;228;p31"/>
          <p:cNvSpPr txBox="1"/>
          <p:nvPr>
            <p:ph idx="1" type="subTitle"/>
          </p:nvPr>
        </p:nvSpPr>
        <p:spPr>
          <a:xfrm>
            <a:off x="3253950" y="1202200"/>
            <a:ext cx="51369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  <a:defRPr sz="11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29" name="Google Shape;229;p31"/>
          <p:cNvSpPr/>
          <p:nvPr>
            <p:ph idx="2" type="pic"/>
          </p:nvPr>
        </p:nvSpPr>
        <p:spPr>
          <a:xfrm>
            <a:off x="434125" y="2147825"/>
            <a:ext cx="8275200" cy="2679300"/>
          </a:xfrm>
          <a:prstGeom prst="snip1Rect">
            <a:avLst>
              <a:gd fmla="val 29467" name="adj"/>
            </a:avLst>
          </a:prstGeom>
          <a:noFill/>
          <a:ln>
            <a:noFill/>
          </a:ln>
        </p:spPr>
      </p:sp>
      <p:sp>
        <p:nvSpPr>
          <p:cNvPr id="230" name="Google Shape;230;p31"/>
          <p:cNvSpPr txBox="1"/>
          <p:nvPr>
            <p:ph idx="3" type="body"/>
          </p:nvPr>
        </p:nvSpPr>
        <p:spPr>
          <a:xfrm>
            <a:off x="3253950" y="1460325"/>
            <a:ext cx="5453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35" name="Google Shape;235;p31"/>
          <p:cNvSpPr/>
          <p:nvPr/>
        </p:nvSpPr>
        <p:spPr>
          <a:xfrm rot="-6523">
            <a:off x="8390811" y="1202508"/>
            <a:ext cx="316201" cy="31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32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38" name="Google Shape;238;p32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39" name="Google Shape;239;p32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40" name="Google Shape;240;p32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41" name="Google Shape;241;p32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2479675" y="1637413"/>
            <a:ext cx="418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2479675" y="2291377"/>
            <a:ext cx="4184700" cy="22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2">
  <p:cSld name="MAIN_POINT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/>
          <p:nvPr>
            <p:ph idx="2" type="pic"/>
          </p:nvPr>
        </p:nvSpPr>
        <p:spPr>
          <a:xfrm rot="300107">
            <a:off x="4903200" y="846465"/>
            <a:ext cx="3950142" cy="3456249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9" name="Google Shape;249;p33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3339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339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 3">
  <p:cSld name="MAIN_POINT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/>
          <p:nvPr>
            <p:ph idx="2" type="pic"/>
          </p:nvPr>
        </p:nvSpPr>
        <p:spPr>
          <a:xfrm rot="-300067">
            <a:off x="550589" y="883785"/>
            <a:ext cx="3630622" cy="3658027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5204625" y="124953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5204625" y="2291390"/>
            <a:ext cx="36621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60" name="Google Shape;260;p34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descriptions">
  <p:cSld name="SECTION_TITLE_AND_DESCRIPTION"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/>
          <p:nvPr>
            <p:ph idx="2" type="pic"/>
          </p:nvPr>
        </p:nvSpPr>
        <p:spPr>
          <a:xfrm>
            <a:off x="3544863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3" name="Google Shape;263;p35"/>
          <p:cNvSpPr/>
          <p:nvPr>
            <p:ph idx="3" type="pic"/>
          </p:nvPr>
        </p:nvSpPr>
        <p:spPr>
          <a:xfrm>
            <a:off x="6658538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4" name="Google Shape;264;p35"/>
          <p:cNvSpPr/>
          <p:nvPr>
            <p:ph idx="4" type="pic"/>
          </p:nvPr>
        </p:nvSpPr>
        <p:spPr>
          <a:xfrm>
            <a:off x="431200" y="1543050"/>
            <a:ext cx="2057400" cy="2057400"/>
          </a:xfrm>
          <a:prstGeom prst="snip1Rect">
            <a:avLst>
              <a:gd fmla="val 24426" name="adj"/>
            </a:avLst>
          </a:prstGeom>
          <a:noFill/>
          <a:ln>
            <a:noFill/>
          </a:ln>
        </p:spPr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35"/>
          <p:cNvSpPr txBox="1"/>
          <p:nvPr>
            <p:ph idx="1" type="subTitle"/>
          </p:nvPr>
        </p:nvSpPr>
        <p:spPr>
          <a:xfrm>
            <a:off x="381100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8" name="Google Shape;268;p35"/>
          <p:cNvSpPr txBox="1"/>
          <p:nvPr>
            <p:ph idx="5" type="subTitle"/>
          </p:nvPr>
        </p:nvSpPr>
        <p:spPr>
          <a:xfrm>
            <a:off x="3494775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69" name="Google Shape;269;p35"/>
          <p:cNvSpPr txBox="1"/>
          <p:nvPr>
            <p:ph idx="6" type="subTitle"/>
          </p:nvPr>
        </p:nvSpPr>
        <p:spPr>
          <a:xfrm>
            <a:off x="6608438" y="3676650"/>
            <a:ext cx="2107500" cy="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 Medium"/>
              <a:buNone/>
              <a:defRPr sz="11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270" name="Google Shape;270;p35"/>
          <p:cNvSpPr txBox="1"/>
          <p:nvPr>
            <p:ph idx="7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71" name="Google Shape;271;p35"/>
          <p:cNvSpPr txBox="1"/>
          <p:nvPr>
            <p:ph idx="8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 bullet points">
  <p:cSld name="CAPTION_ONLY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oogle Shape;273;p36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grpSp>
          <p:nvGrpSpPr>
            <p:cNvPr id="274" name="Google Shape;274;p36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5" name="Google Shape;275;p36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fmla="val 4086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7" name="Google Shape;277;p36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78" name="Google Shape;278;p36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6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333925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36"/>
          <p:cNvSpPr txBox="1"/>
          <p:nvPr>
            <p:ph idx="2" type="body"/>
          </p:nvPr>
        </p:nvSpPr>
        <p:spPr>
          <a:xfrm>
            <a:off x="4595076" y="2291377"/>
            <a:ext cx="3662100" cy="20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6"/>
          <p:cNvSpPr txBox="1"/>
          <p:nvPr>
            <p:ph idx="3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83" name="Google Shape;283;p36"/>
          <p:cNvSpPr txBox="1"/>
          <p:nvPr>
            <p:ph idx="4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eck for understanding">
  <p:cSld name="CAPTION_ONLY_1"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37"/>
          <p:cNvGrpSpPr/>
          <p:nvPr/>
        </p:nvGrpSpPr>
        <p:grpSpPr>
          <a:xfrm>
            <a:off x="0" y="-444900"/>
            <a:ext cx="9144000" cy="5588500"/>
            <a:chOff x="0" y="-444900"/>
            <a:chExt cx="9144000" cy="5588500"/>
          </a:xfrm>
        </p:grpSpPr>
        <p:sp>
          <p:nvSpPr>
            <p:cNvPr id="286" name="Google Shape;286;p37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fmla="val 40868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8" name="Google Shape;288;p37"/>
            <p:cNvSpPr/>
            <p:nvPr/>
          </p:nvSpPr>
          <p:spPr>
            <a:xfrm flipH="1" rot="4500068">
              <a:off x="7230762" y="-24804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333925" y="3630575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type="title"/>
          </p:nvPr>
        </p:nvSpPr>
        <p:spPr>
          <a:xfrm>
            <a:off x="333925" y="1249513"/>
            <a:ext cx="3662100" cy="9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7"/>
          <p:cNvSpPr txBox="1"/>
          <p:nvPr>
            <p:ph idx="2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3" name="Google Shape;293;p37"/>
          <p:cNvSpPr txBox="1"/>
          <p:nvPr>
            <p:ph idx="3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294" name="Google Shape;294;p37"/>
          <p:cNvSpPr txBox="1"/>
          <p:nvPr>
            <p:ph idx="4" type="body"/>
          </p:nvPr>
        </p:nvSpPr>
        <p:spPr>
          <a:xfrm>
            <a:off x="333925" y="31841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7"/>
          <p:cNvSpPr txBox="1"/>
          <p:nvPr>
            <p:ph idx="5" type="body"/>
          </p:nvPr>
        </p:nvSpPr>
        <p:spPr>
          <a:xfrm>
            <a:off x="333925" y="2737776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idx="6" type="body"/>
          </p:nvPr>
        </p:nvSpPr>
        <p:spPr>
          <a:xfrm>
            <a:off x="333925" y="2291377"/>
            <a:ext cx="67908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>
                <a:solidFill>
                  <a:schemeClr val="lt1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ype">
  <p:cSld name="BIG_NUMBER"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8"/>
          <p:cNvSpPr txBox="1"/>
          <p:nvPr/>
        </p:nvSpPr>
        <p:spPr>
          <a:xfrm>
            <a:off x="2479675" y="2285400"/>
            <a:ext cx="418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2800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00" name="Google Shape;300;p38"/>
          <p:cNvGrpSpPr/>
          <p:nvPr/>
        </p:nvGrpSpPr>
        <p:grpSpPr>
          <a:xfrm rot="300150">
            <a:off x="1277165" y="536719"/>
            <a:ext cx="6594752" cy="4068617"/>
            <a:chOff x="1277284" y="536521"/>
            <a:chExt cx="6594691" cy="4068580"/>
          </a:xfrm>
        </p:grpSpPr>
        <p:grpSp>
          <p:nvGrpSpPr>
            <p:cNvPr id="301" name="Google Shape;301;p38"/>
            <p:cNvGrpSpPr/>
            <p:nvPr/>
          </p:nvGrpSpPr>
          <p:grpSpPr>
            <a:xfrm>
              <a:off x="1277284" y="891662"/>
              <a:ext cx="6594077" cy="3357715"/>
              <a:chOff x="1277284" y="891662"/>
              <a:chExt cx="6594077" cy="3357715"/>
            </a:xfrm>
          </p:grpSpPr>
          <p:sp>
            <p:nvSpPr>
              <p:cNvPr id="302" name="Google Shape;302;p38"/>
              <p:cNvSpPr/>
              <p:nvPr/>
            </p:nvSpPr>
            <p:spPr>
              <a:xfrm rot="-2190">
                <a:off x="6458566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03" name="Google Shape;303;p38"/>
              <p:cNvSpPr/>
              <p:nvPr/>
            </p:nvSpPr>
            <p:spPr>
              <a:xfrm flipH="1" rot="-2453">
                <a:off x="1277283" y="893727"/>
                <a:ext cx="4625401" cy="3354000"/>
              </a:xfrm>
              <a:prstGeom prst="snip1Rect">
                <a:avLst>
                  <a:gd fmla="val 4969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4" name="Google Shape;304;p38"/>
              <p:cNvSpPr/>
              <p:nvPr/>
            </p:nvSpPr>
            <p:spPr>
              <a:xfrm flipH="1" rot="10797547">
                <a:off x="3245660" y="893312"/>
                <a:ext cx="4625701" cy="3354000"/>
              </a:xfrm>
              <a:prstGeom prst="snip1Rect">
                <a:avLst>
                  <a:gd fmla="val 4966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05" name="Google Shape;305;p38"/>
              <p:cNvSpPr/>
              <p:nvPr/>
            </p:nvSpPr>
            <p:spPr>
              <a:xfrm rot="-2190">
                <a:off x="1277395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06" name="Google Shape;306;p38"/>
            <p:cNvSpPr/>
            <p:nvPr/>
          </p:nvSpPr>
          <p:spPr>
            <a:xfrm rot="-4517241">
              <a:off x="1416960" y="705331"/>
              <a:ext cx="1386770" cy="136158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07" name="Google Shape;307;p38"/>
            <p:cNvSpPr/>
            <p:nvPr/>
          </p:nvSpPr>
          <p:spPr>
            <a:xfrm rot="6281922">
              <a:off x="6346470" y="3074659"/>
              <a:ext cx="1384510" cy="136318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08" name="Google Shape;308;p38"/>
          <p:cNvSpPr txBox="1"/>
          <p:nvPr>
            <p:ph type="title"/>
          </p:nvPr>
        </p:nvSpPr>
        <p:spPr>
          <a:xfrm>
            <a:off x="2479675" y="2285400"/>
            <a:ext cx="4184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0" name="Google Shape;310;p38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 Tight SemiBold"/>
              <a:buNone/>
              <a:defRPr sz="7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39"/>
          <p:cNvSpPr txBox="1"/>
          <p:nvPr>
            <p:ph idx="1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314" name="Google Shape;314;p39"/>
          <p:cNvSpPr txBox="1"/>
          <p:nvPr>
            <p:ph idx="2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7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Tight SemiBold"/>
              <a:buNone/>
              <a:defRPr sz="2800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7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○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■"/>
              <a:defRPr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ctrTitle"/>
          </p:nvPr>
        </p:nvSpPr>
        <p:spPr>
          <a:xfrm>
            <a:off x="1826325" y="1559575"/>
            <a:ext cx="54948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News: Topic &amp; Emotional Analysis</a:t>
            </a:r>
            <a:endParaRPr/>
          </a:p>
        </p:txBody>
      </p:sp>
      <p:sp>
        <p:nvSpPr>
          <p:cNvPr id="320" name="Google Shape;320;p40"/>
          <p:cNvSpPr txBox="1"/>
          <p:nvPr>
            <p:ph idx="1" type="subTitle"/>
          </p:nvPr>
        </p:nvSpPr>
        <p:spPr>
          <a:xfrm>
            <a:off x="1826325" y="3756125"/>
            <a:ext cx="54948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Oliver Cheng, Renata Krivenko,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Vasilyev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290075" y="4256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Literature on Fake News</a:t>
            </a:r>
            <a:endParaRPr/>
          </a:p>
        </p:txBody>
      </p:sp>
      <p:sp>
        <p:nvSpPr>
          <p:cNvPr id="327" name="Google Shape;327;p41"/>
          <p:cNvSpPr txBox="1"/>
          <p:nvPr>
            <p:ph idx="1" type="body"/>
          </p:nvPr>
        </p:nvSpPr>
        <p:spPr>
          <a:xfrm>
            <a:off x="290075" y="1467225"/>
            <a:ext cx="7956900" cy="28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Powerful force to shape public opinion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Political </a:t>
            </a:r>
            <a:r>
              <a:rPr lang="en"/>
              <a:t>persuasion</a:t>
            </a:r>
            <a:r>
              <a:rPr lang="en"/>
              <a:t> 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Changes beliefs about public health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Relies on emotional </a:t>
            </a:r>
            <a:r>
              <a:rPr lang="en"/>
              <a:t>intuition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Fake news detection using machine learning has been studied for years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Less is known about the actual content of fake news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2"/>
          <p:cNvSpPr txBox="1"/>
          <p:nvPr>
            <p:ph type="title"/>
          </p:nvPr>
        </p:nvSpPr>
        <p:spPr>
          <a:xfrm>
            <a:off x="290075" y="4256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 &amp; Data</a:t>
            </a:r>
            <a:endParaRPr/>
          </a:p>
        </p:txBody>
      </p:sp>
      <p:sp>
        <p:nvSpPr>
          <p:cNvPr id="334" name="Google Shape;334;p42"/>
          <p:cNvSpPr txBox="1"/>
          <p:nvPr>
            <p:ph idx="1" type="body"/>
          </p:nvPr>
        </p:nvSpPr>
        <p:spPr>
          <a:xfrm>
            <a:off x="290075" y="1467225"/>
            <a:ext cx="79569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/>
              <a:t>What are the most prevalent topics in fake news during the years of 2015-2018?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"/>
              <a:t>How do emotions between real news and fake news compare during the years of 2016 - 2017?</a:t>
            </a:r>
            <a:endParaRPr b="1"/>
          </a:p>
        </p:txBody>
      </p:sp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290075" y="3161150"/>
            <a:ext cx="79569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Fake news from 2015 - 2018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Real news from 2016 - 2017</a:t>
            </a:r>
            <a:endParaRPr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Contains training and testing data from fake news detection study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43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42" name="Google Shape;342;p43"/>
          <p:cNvSpPr/>
          <p:nvPr/>
        </p:nvSpPr>
        <p:spPr>
          <a:xfrm>
            <a:off x="106925" y="2136600"/>
            <a:ext cx="1919700" cy="117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Inter Tight"/>
                <a:ea typeface="Inter Tight"/>
                <a:cs typeface="Inter Tight"/>
                <a:sym typeface="Inter Tight"/>
              </a:rPr>
              <a:t>Data Collection &amp; Cleaning</a:t>
            </a:r>
            <a:endParaRPr b="1" sz="20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3221275" y="2136600"/>
            <a:ext cx="2069700" cy="117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Inter Tight"/>
                <a:ea typeface="Inter Tight"/>
                <a:cs typeface="Inter Tight"/>
                <a:sym typeface="Inter Tight"/>
              </a:rPr>
              <a:t>Topic Modeling for Fake News</a:t>
            </a:r>
            <a:endParaRPr b="1" sz="20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6701875" y="2136600"/>
            <a:ext cx="2335200" cy="117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Inter Tight"/>
                <a:ea typeface="Inter Tight"/>
                <a:cs typeface="Inter Tight"/>
                <a:sym typeface="Inter Tight"/>
              </a:rPr>
              <a:t>Emotional Analysis for Real and Fake News</a:t>
            </a:r>
            <a:endParaRPr b="1" sz="20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5535625" y="2571750"/>
            <a:ext cx="921600" cy="471300"/>
          </a:xfrm>
          <a:prstGeom prst="rightArrow">
            <a:avLst>
              <a:gd fmla="val 50000" name="adj1"/>
              <a:gd fmla="val 7594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46" name="Google Shape;346;p43"/>
          <p:cNvSpPr/>
          <p:nvPr/>
        </p:nvSpPr>
        <p:spPr>
          <a:xfrm>
            <a:off x="2163150" y="2571750"/>
            <a:ext cx="921600" cy="471300"/>
          </a:xfrm>
          <a:prstGeom prst="rightArrow">
            <a:avLst>
              <a:gd fmla="val 50000" name="adj1"/>
              <a:gd fmla="val 7594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44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Analysis Results</a:t>
            </a:r>
            <a:endParaRPr/>
          </a:p>
        </p:txBody>
      </p:sp>
      <p:pic>
        <p:nvPicPr>
          <p:cNvPr id="353" name="Google Shape;35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150" y="1178375"/>
            <a:ext cx="3168099" cy="192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6625" y="1172634"/>
            <a:ext cx="3004649" cy="1822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1826" y="3168838"/>
            <a:ext cx="3156748" cy="182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4400" y="3158049"/>
            <a:ext cx="3049096" cy="18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45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Analysis On Article Text</a:t>
            </a:r>
            <a:endParaRPr/>
          </a:p>
        </p:txBody>
      </p:sp>
      <p:pic>
        <p:nvPicPr>
          <p:cNvPr id="363" name="Google Shape;36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288" y="1292925"/>
            <a:ext cx="7275426" cy="357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6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Analysis On Article Titles</a:t>
            </a:r>
            <a:endParaRPr/>
          </a:p>
        </p:txBody>
      </p:sp>
      <p:pic>
        <p:nvPicPr>
          <p:cNvPr id="370" name="Google Shape;3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300" y="1109300"/>
            <a:ext cx="7587399" cy="37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47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77" name="Google Shape;377;p47"/>
          <p:cNvSpPr txBox="1"/>
          <p:nvPr>
            <p:ph idx="1" type="body"/>
          </p:nvPr>
        </p:nvSpPr>
        <p:spPr>
          <a:xfrm>
            <a:off x="325625" y="1329850"/>
            <a:ext cx="7956900" cy="30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What are the most prevalent topics in fake news during the years of 2015-2018?</a:t>
            </a:r>
            <a:endParaRPr b="1"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 sz="1300"/>
              <a:t>Controversial topics are the most prevalent</a:t>
            </a:r>
            <a:endParaRPr b="1"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 sz="1300"/>
              <a:t> Focuses on what is the main concerns during those years (politics to rumors about health and global events)</a:t>
            </a:r>
            <a:endParaRPr b="1"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How do emotions between real news and fake news compare during the years of 2016 - 2017?</a:t>
            </a:r>
            <a:endParaRPr b="1"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 sz="1300"/>
              <a:t>Article Text</a:t>
            </a:r>
            <a:endParaRPr b="1"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</a:pPr>
            <a:r>
              <a:rPr b="1" lang="en" sz="1300"/>
              <a:t>Fake news leverages fear and anger</a:t>
            </a:r>
            <a:endParaRPr b="1"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</a:pPr>
            <a:r>
              <a:rPr b="1" lang="en" sz="1300"/>
              <a:t>Real News has more emotional distribution</a:t>
            </a:r>
            <a:endParaRPr b="1"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b="1" lang="en" sz="1300"/>
              <a:t>Article Titles</a:t>
            </a:r>
            <a:endParaRPr b="1"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</a:pPr>
            <a:r>
              <a:rPr b="1" lang="en" sz="1300"/>
              <a:t>Both are more neutral</a:t>
            </a:r>
            <a:endParaRPr b="1"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romanLcPeriod"/>
            </a:pPr>
            <a:r>
              <a:rPr b="1" lang="en" sz="1300"/>
              <a:t>More anger and disgust in fake news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idx="12" type="sldNum"/>
          </p:nvPr>
        </p:nvSpPr>
        <p:spPr>
          <a:xfrm>
            <a:off x="8318025" y="205550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48"/>
          <p:cNvSpPr txBox="1"/>
          <p:nvPr>
            <p:ph type="title"/>
          </p:nvPr>
        </p:nvSpPr>
        <p:spPr>
          <a:xfrm>
            <a:off x="290075" y="349400"/>
            <a:ext cx="8028000" cy="7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Discussions</a:t>
            </a:r>
            <a:endParaRPr/>
          </a:p>
        </p:txBody>
      </p:sp>
      <p:sp>
        <p:nvSpPr>
          <p:cNvPr id="384" name="Google Shape;384;p48"/>
          <p:cNvSpPr txBox="1"/>
          <p:nvPr/>
        </p:nvSpPr>
        <p:spPr>
          <a:xfrm>
            <a:off x="512100" y="1261700"/>
            <a:ext cx="8119800" cy="3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Limitations</a:t>
            </a:r>
            <a:endParaRPr b="1"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Not many years of fake and real news datasets available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Limited amount of text able to go through the transformers model (512 characters per row)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Future Steps</a:t>
            </a:r>
            <a:endParaRPr b="1"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Continue topic analysis on more current fake and real news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Inter Tight"/>
              <a:buChar char="●"/>
            </a:pPr>
            <a:r>
              <a:rPr lang="en" sz="17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Compare to sways in public opinion to see how these topics influence readers</a:t>
            </a:r>
            <a:endParaRPr sz="17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