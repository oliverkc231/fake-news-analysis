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
  </p:notesMasterIdLst>
  <p:sldIdLst>
    <p:sldId id="259"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8E4DCAD-2E86-8F06-BADA-0EB5B97DB227}" name="Daniel Vasilyev" initials="DV" userId="S::dmv4@stmarys-ca.edu::d28d7992-1630-43c1-9af3-32e8652e413b"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509"/>
    <p:restoredTop sz="94719"/>
  </p:normalViewPr>
  <p:slideViewPr>
    <p:cSldViewPr snapToGrid="0">
      <p:cViewPr>
        <p:scale>
          <a:sx n="28" d="100"/>
          <a:sy n="28" d="100"/>
        </p:scale>
        <p:origin x="40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8/10/relationships/authors" Target="authors.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Users/Daniel/Downloads/News%20Graph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Daniel/Downloads/News%20Graph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Daniel/Downloads/News%20Graphs-2.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Users/Daniel/Downloads/News%20Graphs-2.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Users/Daniel/Downloads/News%20Graphs-2.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Users/Daniel/Downloads/News%20Graphs-2.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500" b="1" i="0" u="none" strike="noStrike" kern="1200" spc="0" baseline="0">
                <a:solidFill>
                  <a:schemeClr val="tx1">
                    <a:lumMod val="65000"/>
                    <a:lumOff val="35000"/>
                  </a:schemeClr>
                </a:solidFill>
                <a:latin typeface="+mn-lt"/>
                <a:ea typeface="+mn-ea"/>
                <a:cs typeface="+mn-cs"/>
              </a:defRPr>
            </a:pPr>
            <a:r>
              <a:rPr lang="en-US" sz="3500" b="1" dirty="0"/>
              <a:t>Dominant Emotion</a:t>
            </a:r>
            <a:r>
              <a:rPr lang="en-US" sz="3500" b="1" baseline="0" dirty="0"/>
              <a:t> Distribution </a:t>
            </a:r>
          </a:p>
          <a:p>
            <a:pPr>
              <a:defRPr sz="3500" b="1"/>
            </a:pPr>
            <a:r>
              <a:rPr lang="en-US" sz="3500" b="1" baseline="0" dirty="0"/>
              <a:t>in Fake vs Real News Text</a:t>
            </a:r>
            <a:endParaRPr lang="en-US" sz="3500" b="1" dirty="0"/>
          </a:p>
        </c:rich>
      </c:tx>
      <c:overlay val="0"/>
      <c:spPr>
        <a:noFill/>
        <a:ln>
          <a:noFill/>
        </a:ln>
        <a:effectLst/>
      </c:spPr>
      <c:txPr>
        <a:bodyPr rot="0" spcFirstLastPara="1" vertOverflow="ellipsis" vert="horz" wrap="square" anchor="ctr" anchorCtr="1"/>
        <a:lstStyle/>
        <a:p>
          <a:pPr>
            <a:defRPr sz="35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Sheet1!$A$2</c:f>
              <c:strCache>
                <c:ptCount val="1"/>
                <c:pt idx="0">
                  <c:v>Fake</c:v>
                </c:pt>
              </c:strCache>
            </c:strRef>
          </c:tx>
          <c:spPr>
            <a:solidFill>
              <a:srgbClr val="FA2304">
                <a:alpha val="90980"/>
              </a:srgbClr>
            </a:solidFill>
            <a:ln>
              <a:noFill/>
            </a:ln>
            <a:effectLst/>
          </c:spPr>
          <c:invertIfNegative val="0"/>
          <c:cat>
            <c:strRef>
              <c:f>Sheet1!$B$1:$H$1</c:f>
              <c:strCache>
                <c:ptCount val="7"/>
                <c:pt idx="0">
                  <c:v>Anger</c:v>
                </c:pt>
                <c:pt idx="1">
                  <c:v>Disgust</c:v>
                </c:pt>
                <c:pt idx="2">
                  <c:v>Fear</c:v>
                </c:pt>
                <c:pt idx="3">
                  <c:v>Joy</c:v>
                </c:pt>
                <c:pt idx="4">
                  <c:v>Neutral</c:v>
                </c:pt>
                <c:pt idx="5">
                  <c:v>Sadness</c:v>
                </c:pt>
                <c:pt idx="6">
                  <c:v>Surpirse</c:v>
                </c:pt>
              </c:strCache>
            </c:strRef>
          </c:cat>
          <c:val>
            <c:numRef>
              <c:f>Sheet1!$B$2:$H$2</c:f>
              <c:numCache>
                <c:formatCode>General</c:formatCode>
                <c:ptCount val="7"/>
                <c:pt idx="0">
                  <c:v>732</c:v>
                </c:pt>
                <c:pt idx="1">
                  <c:v>12</c:v>
                </c:pt>
                <c:pt idx="2">
                  <c:v>753</c:v>
                </c:pt>
                <c:pt idx="3">
                  <c:v>190</c:v>
                </c:pt>
                <c:pt idx="4">
                  <c:v>44</c:v>
                </c:pt>
                <c:pt idx="5">
                  <c:v>165</c:v>
                </c:pt>
                <c:pt idx="6">
                  <c:v>104</c:v>
                </c:pt>
              </c:numCache>
            </c:numRef>
          </c:val>
          <c:extLst>
            <c:ext xmlns:c16="http://schemas.microsoft.com/office/drawing/2014/chart" uri="{C3380CC4-5D6E-409C-BE32-E72D297353CC}">
              <c16:uniqueId val="{00000000-8DD2-684D-9E88-7A203F325EFC}"/>
            </c:ext>
          </c:extLst>
        </c:ser>
        <c:ser>
          <c:idx val="1"/>
          <c:order val="1"/>
          <c:tx>
            <c:strRef>
              <c:f>Sheet1!$A$3</c:f>
              <c:strCache>
                <c:ptCount val="1"/>
                <c:pt idx="0">
                  <c:v>Real</c:v>
                </c:pt>
              </c:strCache>
            </c:strRef>
          </c:tx>
          <c:spPr>
            <a:solidFill>
              <a:srgbClr val="4E95D9">
                <a:alpha val="89804"/>
              </a:srgbClr>
            </a:solidFill>
            <a:ln>
              <a:noFill/>
            </a:ln>
            <a:effectLst/>
          </c:spPr>
          <c:invertIfNegative val="0"/>
          <c:cat>
            <c:strRef>
              <c:f>Sheet1!$B$1:$H$1</c:f>
              <c:strCache>
                <c:ptCount val="7"/>
                <c:pt idx="0">
                  <c:v>Anger</c:v>
                </c:pt>
                <c:pt idx="1">
                  <c:v>Disgust</c:v>
                </c:pt>
                <c:pt idx="2">
                  <c:v>Fear</c:v>
                </c:pt>
                <c:pt idx="3">
                  <c:v>Joy</c:v>
                </c:pt>
                <c:pt idx="4">
                  <c:v>Neutral</c:v>
                </c:pt>
                <c:pt idx="5">
                  <c:v>Sadness</c:v>
                </c:pt>
                <c:pt idx="6">
                  <c:v>Surpirse</c:v>
                </c:pt>
              </c:strCache>
            </c:strRef>
          </c:cat>
          <c:val>
            <c:numRef>
              <c:f>Sheet1!$B$3:$H$3</c:f>
              <c:numCache>
                <c:formatCode>General</c:formatCode>
                <c:ptCount val="7"/>
                <c:pt idx="0">
                  <c:v>520</c:v>
                </c:pt>
                <c:pt idx="1">
                  <c:v>0</c:v>
                </c:pt>
                <c:pt idx="2">
                  <c:v>627</c:v>
                </c:pt>
                <c:pt idx="3">
                  <c:v>435</c:v>
                </c:pt>
                <c:pt idx="4">
                  <c:v>230</c:v>
                </c:pt>
                <c:pt idx="5">
                  <c:v>136</c:v>
                </c:pt>
                <c:pt idx="6">
                  <c:v>52</c:v>
                </c:pt>
              </c:numCache>
            </c:numRef>
          </c:val>
          <c:extLst>
            <c:ext xmlns:c16="http://schemas.microsoft.com/office/drawing/2014/chart" uri="{C3380CC4-5D6E-409C-BE32-E72D297353CC}">
              <c16:uniqueId val="{00000001-8DD2-684D-9E88-7A203F325EFC}"/>
            </c:ext>
          </c:extLst>
        </c:ser>
        <c:dLbls>
          <c:showLegendKey val="0"/>
          <c:showVal val="0"/>
          <c:showCatName val="0"/>
          <c:showSerName val="0"/>
          <c:showPercent val="0"/>
          <c:showBubbleSize val="0"/>
        </c:dLbls>
        <c:gapWidth val="150"/>
        <c:axId val="852876464"/>
        <c:axId val="850734800"/>
      </c:barChart>
      <c:catAx>
        <c:axId val="852876464"/>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en-US"/>
          </a:p>
        </c:txPr>
        <c:crossAx val="850734800"/>
        <c:crosses val="autoZero"/>
        <c:auto val="1"/>
        <c:lblAlgn val="ctr"/>
        <c:lblOffset val="100"/>
        <c:noMultiLvlLbl val="0"/>
      </c:catAx>
      <c:valAx>
        <c:axId val="850734800"/>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500" b="1" i="0" u="none" strike="noStrike" kern="1200" baseline="0">
                <a:solidFill>
                  <a:schemeClr val="tx1">
                    <a:lumMod val="65000"/>
                    <a:lumOff val="35000"/>
                  </a:schemeClr>
                </a:solidFill>
                <a:latin typeface="+mn-lt"/>
                <a:ea typeface="+mn-ea"/>
                <a:cs typeface="+mn-cs"/>
              </a:defRPr>
            </a:pPr>
            <a:endParaRPr lang="en-US"/>
          </a:p>
        </c:txPr>
        <c:crossAx val="852876464"/>
        <c:crosses val="autoZero"/>
        <c:crossBetween val="between"/>
      </c:valAx>
      <c:spPr>
        <a:noFill/>
        <a:ln>
          <a:noFill/>
        </a:ln>
        <a:effectLst/>
      </c:spPr>
    </c:plotArea>
    <c:legend>
      <c:legendPos val="r"/>
      <c:layout>
        <c:manualLayout>
          <c:xMode val="edge"/>
          <c:yMode val="edge"/>
          <c:x val="0.73418269416820325"/>
          <c:y val="0.26370132559381504"/>
          <c:w val="0.146753282774674"/>
          <c:h val="0.14851975552677615"/>
        </c:manualLayout>
      </c:layout>
      <c:overlay val="0"/>
      <c:spPr>
        <a:noFill/>
        <a:ln>
          <a:noFill/>
        </a:ln>
        <a:effectLst/>
      </c:spPr>
      <c:txPr>
        <a:bodyPr rot="0" spcFirstLastPara="1" vertOverflow="ellipsis" vert="horz" wrap="square" anchor="ctr" anchorCtr="1"/>
        <a:lstStyle/>
        <a:p>
          <a:pPr>
            <a:defRPr sz="2200" b="1"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500" b="1" i="0" u="none" strike="noStrike" kern="1200" spc="0" baseline="0">
                <a:solidFill>
                  <a:schemeClr val="tx1">
                    <a:lumMod val="65000"/>
                    <a:lumOff val="35000"/>
                  </a:schemeClr>
                </a:solidFill>
                <a:latin typeface="+mn-lt"/>
                <a:ea typeface="+mn-ea"/>
                <a:cs typeface="+mn-cs"/>
              </a:defRPr>
            </a:pPr>
            <a:r>
              <a:rPr lang="en-US" sz="3500" b="1"/>
              <a:t>Dominant Emotion</a:t>
            </a:r>
            <a:r>
              <a:rPr lang="en-US" sz="3500" b="1" baseline="0"/>
              <a:t> Distribution </a:t>
            </a:r>
          </a:p>
          <a:p>
            <a:pPr>
              <a:defRPr sz="3500" b="1"/>
            </a:pPr>
            <a:r>
              <a:rPr lang="en-US" sz="3500" b="1" baseline="0"/>
              <a:t>in Fake vs Real News Titles</a:t>
            </a:r>
            <a:endParaRPr lang="en-US" sz="3500" b="1"/>
          </a:p>
        </c:rich>
      </c:tx>
      <c:overlay val="0"/>
      <c:spPr>
        <a:noFill/>
        <a:ln>
          <a:noFill/>
        </a:ln>
        <a:effectLst/>
      </c:spPr>
      <c:txPr>
        <a:bodyPr rot="0" spcFirstLastPara="1" vertOverflow="ellipsis" vert="horz" wrap="square" anchor="ctr" anchorCtr="1"/>
        <a:lstStyle/>
        <a:p>
          <a:pPr>
            <a:defRPr sz="35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 (2)'!$A$2</c:f>
              <c:strCache>
                <c:ptCount val="1"/>
                <c:pt idx="0">
                  <c:v>Fake</c:v>
                </c:pt>
              </c:strCache>
            </c:strRef>
          </c:tx>
          <c:spPr>
            <a:solidFill>
              <a:srgbClr val="FA2304">
                <a:alpha val="90980"/>
              </a:srgbClr>
            </a:solidFill>
            <a:ln>
              <a:noFill/>
            </a:ln>
            <a:effectLst/>
          </c:spPr>
          <c:invertIfNegative val="0"/>
          <c:cat>
            <c:strRef>
              <c:f>'Sheet1 (2)'!$B$1:$H$1</c:f>
              <c:strCache>
                <c:ptCount val="7"/>
                <c:pt idx="0">
                  <c:v>Anger</c:v>
                </c:pt>
                <c:pt idx="1">
                  <c:v>Disgust</c:v>
                </c:pt>
                <c:pt idx="2">
                  <c:v>Fear</c:v>
                </c:pt>
                <c:pt idx="3">
                  <c:v>Joy</c:v>
                </c:pt>
                <c:pt idx="4">
                  <c:v>Neutral</c:v>
                </c:pt>
                <c:pt idx="5">
                  <c:v>Sadness</c:v>
                </c:pt>
                <c:pt idx="6">
                  <c:v>Surpirse</c:v>
                </c:pt>
              </c:strCache>
            </c:strRef>
          </c:cat>
          <c:val>
            <c:numRef>
              <c:f>'Sheet1 (2)'!$B$2:$H$2</c:f>
              <c:numCache>
                <c:formatCode>General</c:formatCode>
                <c:ptCount val="7"/>
                <c:pt idx="0">
                  <c:v>439</c:v>
                </c:pt>
                <c:pt idx="1">
                  <c:v>258</c:v>
                </c:pt>
                <c:pt idx="2">
                  <c:v>260</c:v>
                </c:pt>
                <c:pt idx="3">
                  <c:v>61</c:v>
                </c:pt>
                <c:pt idx="4">
                  <c:v>786</c:v>
                </c:pt>
                <c:pt idx="5">
                  <c:v>161</c:v>
                </c:pt>
                <c:pt idx="6">
                  <c:v>35</c:v>
                </c:pt>
              </c:numCache>
            </c:numRef>
          </c:val>
          <c:extLst>
            <c:ext xmlns:c16="http://schemas.microsoft.com/office/drawing/2014/chart" uri="{C3380CC4-5D6E-409C-BE32-E72D297353CC}">
              <c16:uniqueId val="{00000000-33D2-9045-B9C7-98EE5890CC68}"/>
            </c:ext>
          </c:extLst>
        </c:ser>
        <c:ser>
          <c:idx val="1"/>
          <c:order val="1"/>
          <c:tx>
            <c:strRef>
              <c:f>'Sheet1 (2)'!$A$3</c:f>
              <c:strCache>
                <c:ptCount val="1"/>
                <c:pt idx="0">
                  <c:v>Real</c:v>
                </c:pt>
              </c:strCache>
            </c:strRef>
          </c:tx>
          <c:spPr>
            <a:solidFill>
              <a:srgbClr val="4E95D9">
                <a:alpha val="89804"/>
              </a:srgbClr>
            </a:solidFill>
            <a:ln>
              <a:noFill/>
            </a:ln>
            <a:effectLst/>
          </c:spPr>
          <c:invertIfNegative val="0"/>
          <c:cat>
            <c:strRef>
              <c:f>'Sheet1 (2)'!$B$1:$H$1</c:f>
              <c:strCache>
                <c:ptCount val="7"/>
                <c:pt idx="0">
                  <c:v>Anger</c:v>
                </c:pt>
                <c:pt idx="1">
                  <c:v>Disgust</c:v>
                </c:pt>
                <c:pt idx="2">
                  <c:v>Fear</c:v>
                </c:pt>
                <c:pt idx="3">
                  <c:v>Joy</c:v>
                </c:pt>
                <c:pt idx="4">
                  <c:v>Neutral</c:v>
                </c:pt>
                <c:pt idx="5">
                  <c:v>Sadness</c:v>
                </c:pt>
                <c:pt idx="6">
                  <c:v>Surpirse</c:v>
                </c:pt>
              </c:strCache>
            </c:strRef>
          </c:cat>
          <c:val>
            <c:numRef>
              <c:f>'Sheet1 (2)'!$B$3:$H$3</c:f>
              <c:numCache>
                <c:formatCode>General</c:formatCode>
                <c:ptCount val="7"/>
                <c:pt idx="0">
                  <c:v>232</c:v>
                </c:pt>
                <c:pt idx="1">
                  <c:v>40</c:v>
                </c:pt>
                <c:pt idx="2">
                  <c:v>280</c:v>
                </c:pt>
                <c:pt idx="3">
                  <c:v>77</c:v>
                </c:pt>
                <c:pt idx="4">
                  <c:v>1225</c:v>
                </c:pt>
                <c:pt idx="5">
                  <c:v>135</c:v>
                </c:pt>
                <c:pt idx="6">
                  <c:v>11</c:v>
                </c:pt>
              </c:numCache>
            </c:numRef>
          </c:val>
          <c:extLst>
            <c:ext xmlns:c16="http://schemas.microsoft.com/office/drawing/2014/chart" uri="{C3380CC4-5D6E-409C-BE32-E72D297353CC}">
              <c16:uniqueId val="{00000001-33D2-9045-B9C7-98EE5890CC68}"/>
            </c:ext>
          </c:extLst>
        </c:ser>
        <c:dLbls>
          <c:showLegendKey val="0"/>
          <c:showVal val="0"/>
          <c:showCatName val="0"/>
          <c:showSerName val="0"/>
          <c:showPercent val="0"/>
          <c:showBubbleSize val="0"/>
        </c:dLbls>
        <c:gapWidth val="150"/>
        <c:axId val="852876464"/>
        <c:axId val="850734800"/>
      </c:barChart>
      <c:catAx>
        <c:axId val="852876464"/>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en-US"/>
          </a:p>
        </c:txPr>
        <c:crossAx val="850734800"/>
        <c:crosses val="autoZero"/>
        <c:auto val="1"/>
        <c:lblAlgn val="ctr"/>
        <c:lblOffset val="100"/>
        <c:noMultiLvlLbl val="0"/>
      </c:catAx>
      <c:valAx>
        <c:axId val="850734800"/>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500" b="1" i="0" u="none" strike="noStrike" kern="1200" baseline="0">
                <a:solidFill>
                  <a:schemeClr val="tx1">
                    <a:lumMod val="65000"/>
                    <a:lumOff val="35000"/>
                  </a:schemeClr>
                </a:solidFill>
                <a:latin typeface="+mn-lt"/>
                <a:ea typeface="+mn-ea"/>
                <a:cs typeface="+mn-cs"/>
              </a:defRPr>
            </a:pPr>
            <a:endParaRPr lang="en-US"/>
          </a:p>
        </c:txPr>
        <c:crossAx val="852876464"/>
        <c:crosses val="autoZero"/>
        <c:crossBetween val="between"/>
      </c:valAx>
      <c:spPr>
        <a:noFill/>
        <a:ln>
          <a:noFill/>
        </a:ln>
        <a:effectLst/>
      </c:spPr>
    </c:plotArea>
    <c:legend>
      <c:legendPos val="r"/>
      <c:layout>
        <c:manualLayout>
          <c:xMode val="edge"/>
          <c:yMode val="edge"/>
          <c:x val="0.72179259874005064"/>
          <c:y val="0.27568083845565339"/>
          <c:w val="0.146753282774674"/>
          <c:h val="0.14851975552677615"/>
        </c:manualLayout>
      </c:layout>
      <c:overlay val="0"/>
      <c:spPr>
        <a:noFill/>
        <a:ln>
          <a:noFill/>
        </a:ln>
        <a:effectLst/>
      </c:spPr>
      <c:txPr>
        <a:bodyPr rot="0" spcFirstLastPara="1" vertOverflow="ellipsis" vert="horz" wrap="square" anchor="ctr" anchorCtr="1"/>
        <a:lstStyle/>
        <a:p>
          <a:pPr>
            <a:defRPr sz="2200" b="1"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600" b="1" i="0" u="none" strike="noStrike" kern="1200" spc="0" baseline="0">
                <a:solidFill>
                  <a:schemeClr val="tx1">
                    <a:lumMod val="65000"/>
                    <a:lumOff val="35000"/>
                  </a:schemeClr>
                </a:solidFill>
                <a:latin typeface="+mn-lt"/>
                <a:ea typeface="+mn-ea"/>
                <a:cs typeface="+mn-cs"/>
              </a:defRPr>
            </a:pPr>
            <a:r>
              <a:rPr lang="en-US" sz="2600" b="1" i="0" u="none" strike="noStrike" kern="1200" spc="0" baseline="0">
                <a:solidFill>
                  <a:sysClr val="windowText" lastClr="000000">
                    <a:lumMod val="65000"/>
                    <a:lumOff val="35000"/>
                  </a:sysClr>
                </a:solidFill>
              </a:rPr>
              <a:t>Topic Analysis 2015 </a:t>
            </a:r>
          </a:p>
          <a:p>
            <a:pPr>
              <a:defRPr sz="2600" b="1"/>
            </a:pPr>
            <a:r>
              <a:rPr lang="en-US" sz="2600" b="1" i="0" u="none" strike="noStrike" kern="1200" spc="0" baseline="0">
                <a:solidFill>
                  <a:sysClr val="windowText" lastClr="000000">
                    <a:lumMod val="65000"/>
                    <a:lumOff val="35000"/>
                  </a:sysClr>
                </a:solidFill>
              </a:rPr>
              <a:t>Fake News Articles</a:t>
            </a:r>
          </a:p>
        </c:rich>
      </c:tx>
      <c:overlay val="0"/>
      <c:spPr>
        <a:noFill/>
        <a:ln>
          <a:noFill/>
        </a:ln>
        <a:effectLst/>
      </c:spPr>
      <c:txPr>
        <a:bodyPr rot="0" spcFirstLastPara="1" vertOverflow="ellipsis" vert="horz" wrap="square" anchor="ctr" anchorCtr="1"/>
        <a:lstStyle/>
        <a:p>
          <a:pPr>
            <a:defRPr sz="2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rgbClr val="FFC000">
                <a:alpha val="89883"/>
              </a:srgbClr>
            </a:solidFill>
            <a:ln>
              <a:noFill/>
            </a:ln>
            <a:effectLst/>
          </c:spPr>
          <c:invertIfNegative val="0"/>
          <c:cat>
            <c:strRef>
              <c:f>'Sheet1 (2)'!$A$51:$F$51</c:f>
              <c:strCache>
                <c:ptCount val="6"/>
                <c:pt idx="0">
                  <c:v>Conflict in Middle East</c:v>
                </c:pt>
                <c:pt idx="1">
                  <c:v>Hillary Scandal</c:v>
                </c:pt>
                <c:pt idx="2">
                  <c:v>2016 Election</c:v>
                </c:pt>
                <c:pt idx="3">
                  <c:v>Donald Trump</c:v>
                </c:pt>
                <c:pt idx="4">
                  <c:v>US President</c:v>
                </c:pt>
                <c:pt idx="5">
                  <c:v>Law &amp; Order</c:v>
                </c:pt>
              </c:strCache>
            </c:strRef>
          </c:cat>
          <c:val>
            <c:numRef>
              <c:f>'Sheet1 (2)'!$A$52:$F$52</c:f>
              <c:numCache>
                <c:formatCode>General</c:formatCode>
                <c:ptCount val="6"/>
                <c:pt idx="0">
                  <c:v>1226</c:v>
                </c:pt>
                <c:pt idx="1">
                  <c:v>1300</c:v>
                </c:pt>
                <c:pt idx="2">
                  <c:v>2059</c:v>
                </c:pt>
                <c:pt idx="3">
                  <c:v>3338</c:v>
                </c:pt>
                <c:pt idx="4">
                  <c:v>1702</c:v>
                </c:pt>
                <c:pt idx="5">
                  <c:v>1785</c:v>
                </c:pt>
              </c:numCache>
            </c:numRef>
          </c:val>
          <c:extLst>
            <c:ext xmlns:c16="http://schemas.microsoft.com/office/drawing/2014/chart" uri="{C3380CC4-5D6E-409C-BE32-E72D297353CC}">
              <c16:uniqueId val="{00000000-2BFE-1148-B2AE-998504A9AB7E}"/>
            </c:ext>
          </c:extLst>
        </c:ser>
        <c:dLbls>
          <c:showLegendKey val="0"/>
          <c:showVal val="0"/>
          <c:showCatName val="0"/>
          <c:showSerName val="0"/>
          <c:showPercent val="0"/>
          <c:showBubbleSize val="0"/>
        </c:dLbls>
        <c:gapWidth val="219"/>
        <c:overlap val="-27"/>
        <c:axId val="728759152"/>
        <c:axId val="728400832"/>
      </c:barChart>
      <c:catAx>
        <c:axId val="728759152"/>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500" b="1" i="0" u="none" strike="noStrike" kern="1200" baseline="0">
                <a:solidFill>
                  <a:schemeClr val="tx1">
                    <a:lumMod val="65000"/>
                    <a:lumOff val="35000"/>
                  </a:schemeClr>
                </a:solidFill>
                <a:latin typeface="+mn-lt"/>
                <a:ea typeface="+mn-ea"/>
                <a:cs typeface="+mn-cs"/>
              </a:defRPr>
            </a:pPr>
            <a:endParaRPr lang="en-US"/>
          </a:p>
        </c:txPr>
        <c:crossAx val="728400832"/>
        <c:crosses val="autoZero"/>
        <c:auto val="1"/>
        <c:lblAlgn val="ctr"/>
        <c:lblOffset val="100"/>
        <c:noMultiLvlLbl val="0"/>
      </c:catAx>
      <c:valAx>
        <c:axId val="728400832"/>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300" b="1" i="0" u="none" strike="noStrike" kern="1200" baseline="0">
                <a:solidFill>
                  <a:schemeClr val="tx1">
                    <a:lumMod val="65000"/>
                    <a:lumOff val="35000"/>
                  </a:schemeClr>
                </a:solidFill>
                <a:latin typeface="+mn-lt"/>
                <a:ea typeface="+mn-ea"/>
                <a:cs typeface="+mn-cs"/>
              </a:defRPr>
            </a:pPr>
            <a:endParaRPr lang="en-US"/>
          </a:p>
        </c:txPr>
        <c:crossAx val="72875915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600" b="1" i="0" u="none" strike="noStrike" kern="1200" spc="0" baseline="0">
                <a:solidFill>
                  <a:schemeClr val="tx1">
                    <a:lumMod val="65000"/>
                    <a:lumOff val="35000"/>
                  </a:schemeClr>
                </a:solidFill>
                <a:latin typeface="+mn-lt"/>
                <a:ea typeface="+mn-ea"/>
                <a:cs typeface="+mn-cs"/>
              </a:defRPr>
            </a:pPr>
            <a:r>
              <a:rPr lang="en-US" sz="2600" b="1" i="0" u="none" strike="noStrike" kern="1200" spc="0" baseline="0">
                <a:solidFill>
                  <a:sysClr val="windowText" lastClr="000000">
                    <a:lumMod val="65000"/>
                    <a:lumOff val="35000"/>
                  </a:sysClr>
                </a:solidFill>
              </a:rPr>
              <a:t>Topic Analysis 2016 </a:t>
            </a:r>
          </a:p>
          <a:p>
            <a:pPr>
              <a:defRPr sz="2600" b="1"/>
            </a:pPr>
            <a:r>
              <a:rPr lang="en-US" sz="2600" b="1" i="0" u="none" strike="noStrike" kern="1200" spc="0" baseline="0">
                <a:solidFill>
                  <a:sysClr val="windowText" lastClr="000000">
                    <a:lumMod val="65000"/>
                    <a:lumOff val="35000"/>
                  </a:sysClr>
                </a:solidFill>
              </a:rPr>
              <a:t>Fake News Articles</a:t>
            </a:r>
          </a:p>
        </c:rich>
      </c:tx>
      <c:overlay val="0"/>
      <c:spPr>
        <a:noFill/>
        <a:ln>
          <a:noFill/>
        </a:ln>
        <a:effectLst/>
      </c:spPr>
      <c:txPr>
        <a:bodyPr rot="0" spcFirstLastPara="1" vertOverflow="ellipsis" vert="horz" wrap="square" anchor="ctr" anchorCtr="1"/>
        <a:lstStyle/>
        <a:p>
          <a:pPr>
            <a:defRPr sz="2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rgbClr val="FFC000">
                <a:alpha val="89883"/>
              </a:srgbClr>
            </a:solidFill>
            <a:ln>
              <a:noFill/>
            </a:ln>
            <a:effectLst/>
          </c:spPr>
          <c:invertIfNegative val="0"/>
          <c:cat>
            <c:strRef>
              <c:f>'Sheet1 (2)'!$A$51:$F$51</c:f>
              <c:strCache>
                <c:ptCount val="6"/>
                <c:pt idx="0">
                  <c:v>Conflict in Middle East</c:v>
                </c:pt>
                <c:pt idx="1">
                  <c:v>Hillary Scandal</c:v>
                </c:pt>
                <c:pt idx="2">
                  <c:v>2016 Election</c:v>
                </c:pt>
                <c:pt idx="3">
                  <c:v>Donald Trump</c:v>
                </c:pt>
                <c:pt idx="4">
                  <c:v>US President</c:v>
                </c:pt>
                <c:pt idx="5">
                  <c:v>Law &amp; Order</c:v>
                </c:pt>
              </c:strCache>
            </c:strRef>
          </c:cat>
          <c:val>
            <c:numRef>
              <c:f>'Sheet1 (2)'!$A$52:$F$52</c:f>
              <c:numCache>
                <c:formatCode>General</c:formatCode>
                <c:ptCount val="6"/>
                <c:pt idx="0">
                  <c:v>1226</c:v>
                </c:pt>
                <c:pt idx="1">
                  <c:v>1300</c:v>
                </c:pt>
                <c:pt idx="2">
                  <c:v>2059</c:v>
                </c:pt>
                <c:pt idx="3">
                  <c:v>3338</c:v>
                </c:pt>
                <c:pt idx="4">
                  <c:v>1702</c:v>
                </c:pt>
                <c:pt idx="5">
                  <c:v>1785</c:v>
                </c:pt>
              </c:numCache>
            </c:numRef>
          </c:val>
          <c:extLst>
            <c:ext xmlns:c16="http://schemas.microsoft.com/office/drawing/2014/chart" uri="{C3380CC4-5D6E-409C-BE32-E72D297353CC}">
              <c16:uniqueId val="{00000000-38C8-0D4B-A184-4608CE131FF0}"/>
            </c:ext>
          </c:extLst>
        </c:ser>
        <c:dLbls>
          <c:showLegendKey val="0"/>
          <c:showVal val="0"/>
          <c:showCatName val="0"/>
          <c:showSerName val="0"/>
          <c:showPercent val="0"/>
          <c:showBubbleSize val="0"/>
        </c:dLbls>
        <c:gapWidth val="219"/>
        <c:overlap val="-27"/>
        <c:axId val="728759152"/>
        <c:axId val="728400832"/>
      </c:barChart>
      <c:catAx>
        <c:axId val="728759152"/>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500" b="1" i="0" u="none" strike="noStrike" kern="1200" baseline="0">
                <a:solidFill>
                  <a:schemeClr val="tx1">
                    <a:lumMod val="65000"/>
                    <a:lumOff val="35000"/>
                  </a:schemeClr>
                </a:solidFill>
                <a:latin typeface="+mn-lt"/>
                <a:ea typeface="+mn-ea"/>
                <a:cs typeface="+mn-cs"/>
              </a:defRPr>
            </a:pPr>
            <a:endParaRPr lang="en-US"/>
          </a:p>
        </c:txPr>
        <c:crossAx val="728400832"/>
        <c:crosses val="autoZero"/>
        <c:auto val="1"/>
        <c:lblAlgn val="ctr"/>
        <c:lblOffset val="100"/>
        <c:noMultiLvlLbl val="0"/>
      </c:catAx>
      <c:valAx>
        <c:axId val="728400832"/>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300" b="1" i="0" u="none" strike="noStrike" kern="1200" baseline="0">
                <a:solidFill>
                  <a:schemeClr val="tx1">
                    <a:lumMod val="65000"/>
                    <a:lumOff val="35000"/>
                  </a:schemeClr>
                </a:solidFill>
                <a:latin typeface="+mn-lt"/>
                <a:ea typeface="+mn-ea"/>
                <a:cs typeface="+mn-cs"/>
              </a:defRPr>
            </a:pPr>
            <a:endParaRPr lang="en-US"/>
          </a:p>
        </c:txPr>
        <c:crossAx val="72875915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600" b="1" i="0" u="none" strike="noStrike" kern="1200" spc="0" baseline="0">
                <a:solidFill>
                  <a:schemeClr val="tx1">
                    <a:lumMod val="65000"/>
                    <a:lumOff val="35000"/>
                  </a:schemeClr>
                </a:solidFill>
                <a:latin typeface="+mn-lt"/>
                <a:ea typeface="+mn-ea"/>
                <a:cs typeface="+mn-cs"/>
              </a:defRPr>
            </a:pPr>
            <a:r>
              <a:rPr lang="en-US" sz="2600" b="1" i="0" u="none" strike="noStrike" kern="1200" spc="0" baseline="0">
                <a:solidFill>
                  <a:sysClr val="windowText" lastClr="000000">
                    <a:lumMod val="65000"/>
                    <a:lumOff val="35000"/>
                  </a:sysClr>
                </a:solidFill>
              </a:rPr>
              <a:t>Topic Analysis 2017 </a:t>
            </a:r>
          </a:p>
          <a:p>
            <a:pPr>
              <a:defRPr sz="2600" b="1"/>
            </a:pPr>
            <a:r>
              <a:rPr lang="en-US" sz="2600" b="1" i="0" u="none" strike="noStrike" kern="1200" spc="0" baseline="0">
                <a:solidFill>
                  <a:sysClr val="windowText" lastClr="000000">
                    <a:lumMod val="65000"/>
                    <a:lumOff val="35000"/>
                  </a:sysClr>
                </a:solidFill>
              </a:rPr>
              <a:t>Fake News Articles</a:t>
            </a:r>
          </a:p>
        </c:rich>
      </c:tx>
      <c:overlay val="0"/>
      <c:spPr>
        <a:noFill/>
        <a:ln>
          <a:noFill/>
        </a:ln>
        <a:effectLst/>
      </c:spPr>
      <c:txPr>
        <a:bodyPr rot="0" spcFirstLastPara="1" vertOverflow="ellipsis" vert="horz" wrap="square" anchor="ctr" anchorCtr="1"/>
        <a:lstStyle/>
        <a:p>
          <a:pPr>
            <a:defRPr sz="2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rgbClr val="FFC000">
                <a:alpha val="89883"/>
              </a:srgbClr>
            </a:solidFill>
            <a:ln>
              <a:noFill/>
            </a:ln>
            <a:effectLst/>
          </c:spPr>
          <c:invertIfNegative val="0"/>
          <c:cat>
            <c:strRef>
              <c:f>'Sheet1 (4)'!$A$51:$F$51</c:f>
              <c:strCache>
                <c:ptCount val="6"/>
                <c:pt idx="0">
                  <c:v>Russia &amp; US Election</c:v>
                </c:pt>
                <c:pt idx="1">
                  <c:v>Trump &amp; Public Opinion</c:v>
                </c:pt>
                <c:pt idx="2">
                  <c:v>Domestic Issues</c:v>
                </c:pt>
                <c:pt idx="3">
                  <c:v>Trump Administration</c:v>
                </c:pt>
                <c:pt idx="4">
                  <c:v>Foreign Affairs &amp; War</c:v>
                </c:pt>
                <c:pt idx="5">
                  <c:v>Sexual Misconduct &amp; Politics</c:v>
                </c:pt>
              </c:strCache>
            </c:strRef>
          </c:cat>
          <c:val>
            <c:numRef>
              <c:f>'Sheet1 (4)'!$A$52:$F$52</c:f>
              <c:numCache>
                <c:formatCode>General</c:formatCode>
                <c:ptCount val="6"/>
                <c:pt idx="0">
                  <c:v>1089</c:v>
                </c:pt>
                <c:pt idx="1">
                  <c:v>2439</c:v>
                </c:pt>
                <c:pt idx="2">
                  <c:v>1469</c:v>
                </c:pt>
                <c:pt idx="3">
                  <c:v>2441</c:v>
                </c:pt>
                <c:pt idx="4">
                  <c:v>834</c:v>
                </c:pt>
                <c:pt idx="5">
                  <c:v>630</c:v>
                </c:pt>
              </c:numCache>
            </c:numRef>
          </c:val>
          <c:extLst>
            <c:ext xmlns:c16="http://schemas.microsoft.com/office/drawing/2014/chart" uri="{C3380CC4-5D6E-409C-BE32-E72D297353CC}">
              <c16:uniqueId val="{00000000-7216-2643-B99F-57094AB5C768}"/>
            </c:ext>
          </c:extLst>
        </c:ser>
        <c:dLbls>
          <c:showLegendKey val="0"/>
          <c:showVal val="0"/>
          <c:showCatName val="0"/>
          <c:showSerName val="0"/>
          <c:showPercent val="0"/>
          <c:showBubbleSize val="0"/>
        </c:dLbls>
        <c:gapWidth val="219"/>
        <c:overlap val="-27"/>
        <c:axId val="728759152"/>
        <c:axId val="728400832"/>
      </c:barChart>
      <c:catAx>
        <c:axId val="728759152"/>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500" b="1" i="0" u="none" strike="noStrike" kern="1200" baseline="0">
                <a:solidFill>
                  <a:schemeClr val="tx1">
                    <a:lumMod val="65000"/>
                    <a:lumOff val="35000"/>
                  </a:schemeClr>
                </a:solidFill>
                <a:latin typeface="+mn-lt"/>
                <a:ea typeface="+mn-ea"/>
                <a:cs typeface="+mn-cs"/>
              </a:defRPr>
            </a:pPr>
            <a:endParaRPr lang="en-US"/>
          </a:p>
        </c:txPr>
        <c:crossAx val="728400832"/>
        <c:crosses val="autoZero"/>
        <c:auto val="1"/>
        <c:lblAlgn val="ctr"/>
        <c:lblOffset val="100"/>
        <c:noMultiLvlLbl val="0"/>
      </c:catAx>
      <c:valAx>
        <c:axId val="728400832"/>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300" b="1" i="0" u="none" strike="noStrike" kern="1200" baseline="0">
                <a:solidFill>
                  <a:schemeClr val="tx1">
                    <a:lumMod val="65000"/>
                    <a:lumOff val="35000"/>
                  </a:schemeClr>
                </a:solidFill>
                <a:latin typeface="+mn-lt"/>
                <a:ea typeface="+mn-ea"/>
                <a:cs typeface="+mn-cs"/>
              </a:defRPr>
            </a:pPr>
            <a:endParaRPr lang="en-US"/>
          </a:p>
        </c:txPr>
        <c:crossAx val="72875915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600" b="1" i="0" u="none" strike="noStrike" kern="1200" spc="0" baseline="0">
                <a:solidFill>
                  <a:schemeClr val="tx1">
                    <a:lumMod val="65000"/>
                    <a:lumOff val="35000"/>
                  </a:schemeClr>
                </a:solidFill>
                <a:latin typeface="+mn-lt"/>
                <a:ea typeface="+mn-ea"/>
                <a:cs typeface="+mn-cs"/>
              </a:defRPr>
            </a:pPr>
            <a:r>
              <a:rPr lang="en-US" sz="2600" b="1" i="0" u="none" strike="noStrike" kern="1200" spc="0" baseline="0">
                <a:solidFill>
                  <a:sysClr val="windowText" lastClr="000000">
                    <a:lumMod val="65000"/>
                    <a:lumOff val="35000"/>
                  </a:sysClr>
                </a:solidFill>
              </a:rPr>
              <a:t>Topic Analysis 2018 </a:t>
            </a:r>
          </a:p>
          <a:p>
            <a:pPr>
              <a:defRPr sz="2600" b="1"/>
            </a:pPr>
            <a:r>
              <a:rPr lang="en-US" sz="2600" b="1" i="0" u="none" strike="noStrike" kern="1200" spc="0" baseline="0">
                <a:solidFill>
                  <a:sysClr val="windowText" lastClr="000000">
                    <a:lumMod val="65000"/>
                    <a:lumOff val="35000"/>
                  </a:sysClr>
                </a:solidFill>
              </a:rPr>
              <a:t>Fake News Articles</a:t>
            </a:r>
          </a:p>
        </c:rich>
      </c:tx>
      <c:overlay val="0"/>
      <c:spPr>
        <a:noFill/>
        <a:ln>
          <a:noFill/>
        </a:ln>
        <a:effectLst/>
      </c:spPr>
      <c:txPr>
        <a:bodyPr rot="0" spcFirstLastPara="1" vertOverflow="ellipsis" vert="horz" wrap="square" anchor="ctr" anchorCtr="1"/>
        <a:lstStyle/>
        <a:p>
          <a:pPr>
            <a:defRPr sz="2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rgbClr val="FFC000">
                <a:alpha val="89883"/>
              </a:srgbClr>
            </a:solidFill>
            <a:ln>
              <a:noFill/>
            </a:ln>
            <a:effectLst/>
          </c:spPr>
          <c:invertIfNegative val="0"/>
          <c:cat>
            <c:strRef>
              <c:f>'Sheet1 (5)'!$A$51:$F$51</c:f>
              <c:strCache>
                <c:ptCount val="6"/>
                <c:pt idx="0">
                  <c:v>Interest &amp; Lifestyle</c:v>
                </c:pt>
                <c:pt idx="1">
                  <c:v>Donald Trump</c:v>
                </c:pt>
                <c:pt idx="2">
                  <c:v>Global Conflict &amp; Russia</c:v>
                </c:pt>
                <c:pt idx="3">
                  <c:v>Law &amp; Order</c:v>
                </c:pt>
                <c:pt idx="4">
                  <c:v>2016 Elections</c:v>
                </c:pt>
                <c:pt idx="5">
                  <c:v>Business &amp; Health</c:v>
                </c:pt>
              </c:strCache>
            </c:strRef>
          </c:cat>
          <c:val>
            <c:numRef>
              <c:f>'Sheet1 (5)'!$A$52:$F$52</c:f>
              <c:numCache>
                <c:formatCode>General</c:formatCode>
                <c:ptCount val="6"/>
                <c:pt idx="0">
                  <c:v>3286</c:v>
                </c:pt>
                <c:pt idx="1">
                  <c:v>3699</c:v>
                </c:pt>
                <c:pt idx="2">
                  <c:v>2233</c:v>
                </c:pt>
                <c:pt idx="3">
                  <c:v>2154</c:v>
                </c:pt>
                <c:pt idx="4">
                  <c:v>2919</c:v>
                </c:pt>
                <c:pt idx="5">
                  <c:v>2390</c:v>
                </c:pt>
              </c:numCache>
            </c:numRef>
          </c:val>
          <c:extLst>
            <c:ext xmlns:c16="http://schemas.microsoft.com/office/drawing/2014/chart" uri="{C3380CC4-5D6E-409C-BE32-E72D297353CC}">
              <c16:uniqueId val="{00000000-3D36-1B46-9819-933BB34EDC13}"/>
            </c:ext>
          </c:extLst>
        </c:ser>
        <c:dLbls>
          <c:showLegendKey val="0"/>
          <c:showVal val="0"/>
          <c:showCatName val="0"/>
          <c:showSerName val="0"/>
          <c:showPercent val="0"/>
          <c:showBubbleSize val="0"/>
        </c:dLbls>
        <c:gapWidth val="219"/>
        <c:overlap val="-27"/>
        <c:axId val="728759152"/>
        <c:axId val="728400832"/>
      </c:barChart>
      <c:catAx>
        <c:axId val="728759152"/>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500" b="1" i="0" u="none" strike="noStrike" kern="1200" baseline="0">
                <a:solidFill>
                  <a:schemeClr val="tx1">
                    <a:lumMod val="65000"/>
                    <a:lumOff val="35000"/>
                  </a:schemeClr>
                </a:solidFill>
                <a:latin typeface="+mn-lt"/>
                <a:ea typeface="+mn-ea"/>
                <a:cs typeface="+mn-cs"/>
              </a:defRPr>
            </a:pPr>
            <a:endParaRPr lang="en-US"/>
          </a:p>
        </c:txPr>
        <c:crossAx val="728400832"/>
        <c:crosses val="autoZero"/>
        <c:auto val="1"/>
        <c:lblAlgn val="ctr"/>
        <c:lblOffset val="100"/>
        <c:noMultiLvlLbl val="0"/>
      </c:catAx>
      <c:valAx>
        <c:axId val="728400832"/>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300" b="1" i="0" u="none" strike="noStrike" kern="1200" baseline="0">
                <a:solidFill>
                  <a:schemeClr val="tx1">
                    <a:lumMod val="65000"/>
                    <a:lumOff val="35000"/>
                  </a:schemeClr>
                </a:solidFill>
                <a:latin typeface="+mn-lt"/>
                <a:ea typeface="+mn-ea"/>
                <a:cs typeface="+mn-cs"/>
              </a:defRPr>
            </a:pPr>
            <a:endParaRPr lang="en-US"/>
          </a:p>
        </c:txPr>
        <c:crossAx val="72875915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55B6F5-2831-424A-A554-2F0975DDA1D7}" type="datetimeFigureOut">
              <a:rPr lang="en-US" smtClean="0"/>
              <a:t>5/8/25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B40E58-8968-B840-AAB6-00F0C366F4FC}" type="slidenum">
              <a:rPr lang="en-US" smtClean="0"/>
              <a:t>‹#›</a:t>
            </a:fld>
            <a:endParaRPr lang="en-US"/>
          </a:p>
        </p:txBody>
      </p:sp>
    </p:spTree>
    <p:extLst>
      <p:ext uri="{BB962C8B-B14F-4D97-AF65-F5344CB8AC3E}">
        <p14:creationId xmlns:p14="http://schemas.microsoft.com/office/powerpoint/2010/main" val="2166699985"/>
      </p:ext>
    </p:extLst>
  </p:cSld>
  <p:clrMap bg1="lt1" tx1="dk1" bg2="lt2" tx2="dk2" accent1="accent1" accent2="accent2" accent3="accent3" accent4="accent4" accent5="accent5" accent6="accent6" hlink="hlink" folHlink="folHlink"/>
  <p:notesStyle>
    <a:lvl1pPr marL="0" algn="l" defTabSz="3686861" rtl="0" eaLnBrk="1" latinLnBrk="0" hangingPunct="1">
      <a:defRPr sz="4838" kern="1200">
        <a:solidFill>
          <a:schemeClr val="tx1"/>
        </a:solidFill>
        <a:latin typeface="+mn-lt"/>
        <a:ea typeface="+mn-ea"/>
        <a:cs typeface="+mn-cs"/>
      </a:defRPr>
    </a:lvl1pPr>
    <a:lvl2pPr marL="1843430" algn="l" defTabSz="3686861" rtl="0" eaLnBrk="1" latinLnBrk="0" hangingPunct="1">
      <a:defRPr sz="4838" kern="1200">
        <a:solidFill>
          <a:schemeClr val="tx1"/>
        </a:solidFill>
        <a:latin typeface="+mn-lt"/>
        <a:ea typeface="+mn-ea"/>
        <a:cs typeface="+mn-cs"/>
      </a:defRPr>
    </a:lvl2pPr>
    <a:lvl3pPr marL="3686861" algn="l" defTabSz="3686861" rtl="0" eaLnBrk="1" latinLnBrk="0" hangingPunct="1">
      <a:defRPr sz="4838" kern="1200">
        <a:solidFill>
          <a:schemeClr val="tx1"/>
        </a:solidFill>
        <a:latin typeface="+mn-lt"/>
        <a:ea typeface="+mn-ea"/>
        <a:cs typeface="+mn-cs"/>
      </a:defRPr>
    </a:lvl3pPr>
    <a:lvl4pPr marL="5530291" algn="l" defTabSz="3686861" rtl="0" eaLnBrk="1" latinLnBrk="0" hangingPunct="1">
      <a:defRPr sz="4838" kern="1200">
        <a:solidFill>
          <a:schemeClr val="tx1"/>
        </a:solidFill>
        <a:latin typeface="+mn-lt"/>
        <a:ea typeface="+mn-ea"/>
        <a:cs typeface="+mn-cs"/>
      </a:defRPr>
    </a:lvl4pPr>
    <a:lvl5pPr marL="7373722" algn="l" defTabSz="3686861" rtl="0" eaLnBrk="1" latinLnBrk="0" hangingPunct="1">
      <a:defRPr sz="4838" kern="1200">
        <a:solidFill>
          <a:schemeClr val="tx1"/>
        </a:solidFill>
        <a:latin typeface="+mn-lt"/>
        <a:ea typeface="+mn-ea"/>
        <a:cs typeface="+mn-cs"/>
      </a:defRPr>
    </a:lvl5pPr>
    <a:lvl6pPr marL="9217152" algn="l" defTabSz="3686861" rtl="0" eaLnBrk="1" latinLnBrk="0" hangingPunct="1">
      <a:defRPr sz="4838" kern="1200">
        <a:solidFill>
          <a:schemeClr val="tx1"/>
        </a:solidFill>
        <a:latin typeface="+mn-lt"/>
        <a:ea typeface="+mn-ea"/>
        <a:cs typeface="+mn-cs"/>
      </a:defRPr>
    </a:lvl6pPr>
    <a:lvl7pPr marL="11060582" algn="l" defTabSz="3686861" rtl="0" eaLnBrk="1" latinLnBrk="0" hangingPunct="1">
      <a:defRPr sz="4838" kern="1200">
        <a:solidFill>
          <a:schemeClr val="tx1"/>
        </a:solidFill>
        <a:latin typeface="+mn-lt"/>
        <a:ea typeface="+mn-ea"/>
        <a:cs typeface="+mn-cs"/>
      </a:defRPr>
    </a:lvl7pPr>
    <a:lvl8pPr marL="12904013" algn="l" defTabSz="3686861" rtl="0" eaLnBrk="1" latinLnBrk="0" hangingPunct="1">
      <a:defRPr sz="4838" kern="1200">
        <a:solidFill>
          <a:schemeClr val="tx1"/>
        </a:solidFill>
        <a:latin typeface="+mn-lt"/>
        <a:ea typeface="+mn-ea"/>
        <a:cs typeface="+mn-cs"/>
      </a:defRPr>
    </a:lvl8pPr>
    <a:lvl9pPr marL="14747443" algn="l" defTabSz="3686861" rtl="0" eaLnBrk="1" latinLnBrk="0" hangingPunct="1">
      <a:defRPr sz="483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C8AFF3-B902-7D40-8CAE-8097CAFA8105}" type="slidenum">
              <a:rPr lang="en-US" smtClean="0"/>
              <a:t>1</a:t>
            </a:fld>
            <a:endParaRPr lang="en-US" dirty="0"/>
          </a:p>
        </p:txBody>
      </p:sp>
    </p:spTree>
    <p:extLst>
      <p:ext uri="{BB962C8B-B14F-4D97-AF65-F5344CB8AC3E}">
        <p14:creationId xmlns:p14="http://schemas.microsoft.com/office/powerpoint/2010/main" val="4176237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3A3B636-78B2-7C43-81EA-22152EEAACEE}" type="datetimeFigureOut">
              <a:rPr lang="en-US" smtClean="0"/>
              <a:t>5/8/25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7027B4-6BF4-0548-925B-710F32550810}" type="slidenum">
              <a:rPr lang="en-US" smtClean="0"/>
              <a:t>‹#›</a:t>
            </a:fld>
            <a:endParaRPr lang="en-US"/>
          </a:p>
        </p:txBody>
      </p:sp>
    </p:spTree>
    <p:extLst>
      <p:ext uri="{BB962C8B-B14F-4D97-AF65-F5344CB8AC3E}">
        <p14:creationId xmlns:p14="http://schemas.microsoft.com/office/powerpoint/2010/main" val="3935651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A3B636-78B2-7C43-81EA-22152EEAACEE}" type="datetimeFigureOut">
              <a:rPr lang="en-US" smtClean="0"/>
              <a:t>5/8/25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7027B4-6BF4-0548-925B-710F32550810}" type="slidenum">
              <a:rPr lang="en-US" smtClean="0"/>
              <a:t>‹#›</a:t>
            </a:fld>
            <a:endParaRPr lang="en-US"/>
          </a:p>
        </p:txBody>
      </p:sp>
    </p:spTree>
    <p:extLst>
      <p:ext uri="{BB962C8B-B14F-4D97-AF65-F5344CB8AC3E}">
        <p14:creationId xmlns:p14="http://schemas.microsoft.com/office/powerpoint/2010/main" val="3565246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tint val="82000"/>
                  </a:schemeClr>
                </a:solidFill>
              </a:defRPr>
            </a:lvl1pPr>
            <a:lvl2pPr marL="2194560" indent="0">
              <a:buNone/>
              <a:defRPr sz="9600">
                <a:solidFill>
                  <a:schemeClr val="tx1">
                    <a:tint val="82000"/>
                  </a:schemeClr>
                </a:solidFill>
              </a:defRPr>
            </a:lvl2pPr>
            <a:lvl3pPr marL="4389120" indent="0">
              <a:buNone/>
              <a:defRPr sz="8640">
                <a:solidFill>
                  <a:schemeClr val="tx1">
                    <a:tint val="82000"/>
                  </a:schemeClr>
                </a:solidFill>
              </a:defRPr>
            </a:lvl3pPr>
            <a:lvl4pPr marL="6583680" indent="0">
              <a:buNone/>
              <a:defRPr sz="7680">
                <a:solidFill>
                  <a:schemeClr val="tx1">
                    <a:tint val="82000"/>
                  </a:schemeClr>
                </a:solidFill>
              </a:defRPr>
            </a:lvl4pPr>
            <a:lvl5pPr marL="8778240" indent="0">
              <a:buNone/>
              <a:defRPr sz="7680">
                <a:solidFill>
                  <a:schemeClr val="tx1">
                    <a:tint val="82000"/>
                  </a:schemeClr>
                </a:solidFill>
              </a:defRPr>
            </a:lvl5pPr>
            <a:lvl6pPr marL="10972800" indent="0">
              <a:buNone/>
              <a:defRPr sz="7680">
                <a:solidFill>
                  <a:schemeClr val="tx1">
                    <a:tint val="82000"/>
                  </a:schemeClr>
                </a:solidFill>
              </a:defRPr>
            </a:lvl6pPr>
            <a:lvl7pPr marL="13167360" indent="0">
              <a:buNone/>
              <a:defRPr sz="7680">
                <a:solidFill>
                  <a:schemeClr val="tx1">
                    <a:tint val="82000"/>
                  </a:schemeClr>
                </a:solidFill>
              </a:defRPr>
            </a:lvl7pPr>
            <a:lvl8pPr marL="15361920" indent="0">
              <a:buNone/>
              <a:defRPr sz="7680">
                <a:solidFill>
                  <a:schemeClr val="tx1">
                    <a:tint val="82000"/>
                  </a:schemeClr>
                </a:solidFill>
              </a:defRPr>
            </a:lvl8pPr>
            <a:lvl9pPr marL="17556480" indent="0">
              <a:buNone/>
              <a:defRPr sz="768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A3B636-78B2-7C43-81EA-22152EEAACEE}" type="datetimeFigureOut">
              <a:rPr lang="en-US" smtClean="0"/>
              <a:t>5/8/25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7027B4-6BF4-0548-925B-710F32550810}" type="slidenum">
              <a:rPr lang="en-US" smtClean="0"/>
              <a:t>‹#›</a:t>
            </a:fld>
            <a:endParaRPr lang="en-US"/>
          </a:p>
        </p:txBody>
      </p:sp>
    </p:spTree>
    <p:extLst>
      <p:ext uri="{BB962C8B-B14F-4D97-AF65-F5344CB8AC3E}">
        <p14:creationId xmlns:p14="http://schemas.microsoft.com/office/powerpoint/2010/main" val="3467174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3A3B636-78B2-7C43-81EA-22152EEAACEE}" type="datetimeFigureOut">
              <a:rPr lang="en-US" smtClean="0"/>
              <a:t>5/8/25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7027B4-6BF4-0548-925B-710F32550810}" type="slidenum">
              <a:rPr lang="en-US" smtClean="0"/>
              <a:t>‹#›</a:t>
            </a:fld>
            <a:endParaRPr lang="en-US"/>
          </a:p>
        </p:txBody>
      </p:sp>
    </p:spTree>
    <p:extLst>
      <p:ext uri="{BB962C8B-B14F-4D97-AF65-F5344CB8AC3E}">
        <p14:creationId xmlns:p14="http://schemas.microsoft.com/office/powerpoint/2010/main" val="19500008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3A3B636-78B2-7C43-81EA-22152EEAACEE}" type="datetimeFigureOut">
              <a:rPr lang="en-US" smtClean="0"/>
              <a:t>5/8/25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77027B4-6BF4-0548-925B-710F32550810}" type="slidenum">
              <a:rPr lang="en-US" smtClean="0"/>
              <a:t>‹#›</a:t>
            </a:fld>
            <a:endParaRPr lang="en-US"/>
          </a:p>
        </p:txBody>
      </p:sp>
    </p:spTree>
    <p:extLst>
      <p:ext uri="{BB962C8B-B14F-4D97-AF65-F5344CB8AC3E}">
        <p14:creationId xmlns:p14="http://schemas.microsoft.com/office/powerpoint/2010/main" val="545862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3A3B636-78B2-7C43-81EA-22152EEAACEE}" type="datetimeFigureOut">
              <a:rPr lang="en-US" smtClean="0"/>
              <a:t>5/8/25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77027B4-6BF4-0548-925B-710F32550810}" type="slidenum">
              <a:rPr lang="en-US" smtClean="0"/>
              <a:t>‹#›</a:t>
            </a:fld>
            <a:endParaRPr lang="en-US"/>
          </a:p>
        </p:txBody>
      </p:sp>
    </p:spTree>
    <p:extLst>
      <p:ext uri="{BB962C8B-B14F-4D97-AF65-F5344CB8AC3E}">
        <p14:creationId xmlns:p14="http://schemas.microsoft.com/office/powerpoint/2010/main" val="70584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A3B636-78B2-7C43-81EA-22152EEAACEE}" type="datetimeFigureOut">
              <a:rPr lang="en-US" smtClean="0"/>
              <a:t>5/8/25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77027B4-6BF4-0548-925B-710F32550810}" type="slidenum">
              <a:rPr lang="en-US" smtClean="0"/>
              <a:t>‹#›</a:t>
            </a:fld>
            <a:endParaRPr lang="en-US"/>
          </a:p>
        </p:txBody>
      </p:sp>
    </p:spTree>
    <p:extLst>
      <p:ext uri="{BB962C8B-B14F-4D97-AF65-F5344CB8AC3E}">
        <p14:creationId xmlns:p14="http://schemas.microsoft.com/office/powerpoint/2010/main" val="2605059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B3A3B636-78B2-7C43-81EA-22152EEAACEE}" type="datetimeFigureOut">
              <a:rPr lang="en-US" smtClean="0"/>
              <a:t>5/8/25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7027B4-6BF4-0548-925B-710F32550810}" type="slidenum">
              <a:rPr lang="en-US" smtClean="0"/>
              <a:t>‹#›</a:t>
            </a:fld>
            <a:endParaRPr lang="en-US"/>
          </a:p>
        </p:txBody>
      </p:sp>
    </p:spTree>
    <p:extLst>
      <p:ext uri="{BB962C8B-B14F-4D97-AF65-F5344CB8AC3E}">
        <p14:creationId xmlns:p14="http://schemas.microsoft.com/office/powerpoint/2010/main" val="792648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B3A3B636-78B2-7C43-81EA-22152EEAACEE}" type="datetimeFigureOut">
              <a:rPr lang="en-US" smtClean="0"/>
              <a:t>5/8/25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7027B4-6BF4-0548-925B-710F32550810}" type="slidenum">
              <a:rPr lang="en-US" smtClean="0"/>
              <a:t>‹#›</a:t>
            </a:fld>
            <a:endParaRPr lang="en-US"/>
          </a:p>
        </p:txBody>
      </p:sp>
    </p:spTree>
    <p:extLst>
      <p:ext uri="{BB962C8B-B14F-4D97-AF65-F5344CB8AC3E}">
        <p14:creationId xmlns:p14="http://schemas.microsoft.com/office/powerpoint/2010/main" val="2045053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A3B636-78B2-7C43-81EA-22152EEAACEE}" type="datetimeFigureOut">
              <a:rPr lang="en-US" smtClean="0"/>
              <a:t>5/8/25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7027B4-6BF4-0548-925B-710F32550810}" type="slidenum">
              <a:rPr lang="en-US" smtClean="0"/>
              <a:t>‹#›</a:t>
            </a:fld>
            <a:endParaRPr lang="en-US"/>
          </a:p>
        </p:txBody>
      </p:sp>
    </p:spTree>
    <p:extLst>
      <p:ext uri="{BB962C8B-B14F-4D97-AF65-F5344CB8AC3E}">
        <p14:creationId xmlns:p14="http://schemas.microsoft.com/office/powerpoint/2010/main" val="2418990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A3B636-78B2-7C43-81EA-22152EEAACEE}" type="datetimeFigureOut">
              <a:rPr lang="en-US" smtClean="0"/>
              <a:t>5/8/25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7027B4-6BF4-0548-925B-710F32550810}" type="slidenum">
              <a:rPr lang="en-US" smtClean="0"/>
              <a:t>‹#›</a:t>
            </a:fld>
            <a:endParaRPr lang="en-US"/>
          </a:p>
        </p:txBody>
      </p:sp>
    </p:spTree>
    <p:extLst>
      <p:ext uri="{BB962C8B-B14F-4D97-AF65-F5344CB8AC3E}">
        <p14:creationId xmlns:p14="http://schemas.microsoft.com/office/powerpoint/2010/main" val="2322083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82000"/>
                  </a:schemeClr>
                </a:solidFill>
              </a:defRPr>
            </a:lvl1pPr>
          </a:lstStyle>
          <a:p>
            <a:fld id="{B3A3B636-78B2-7C43-81EA-22152EEAACEE}" type="datetimeFigureOut">
              <a:rPr lang="en-US" smtClean="0"/>
              <a:t>5/8/25</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82000"/>
                  </a:schemeClr>
                </a:solidFill>
              </a:defRPr>
            </a:lvl1pPr>
          </a:lstStyle>
          <a:p>
            <a:fld id="{977027B4-6BF4-0548-925B-710F32550810}" type="slidenum">
              <a:rPr lang="en-US" smtClean="0"/>
              <a:t>‹#›</a:t>
            </a:fld>
            <a:endParaRPr lang="en-US"/>
          </a:p>
        </p:txBody>
      </p:sp>
    </p:spTree>
    <p:extLst>
      <p:ext uri="{BB962C8B-B14F-4D97-AF65-F5344CB8AC3E}">
        <p14:creationId xmlns:p14="http://schemas.microsoft.com/office/powerpoint/2010/main" val="344194313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hart" Target="../charts/chart4.xml"/><Relationship Id="rId3" Type="http://schemas.openxmlformats.org/officeDocument/2006/relationships/image" Target="../media/image1.png"/><Relationship Id="rId7" Type="http://schemas.openxmlformats.org/officeDocument/2006/relationships/chart" Target="../charts/chart3.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chart" Target="../charts/chart2.xml"/><Relationship Id="rId5" Type="http://schemas.openxmlformats.org/officeDocument/2006/relationships/chart" Target="../charts/chart1.xml"/><Relationship Id="rId10" Type="http://schemas.openxmlformats.org/officeDocument/2006/relationships/chart" Target="../charts/chart6.xml"/><Relationship Id="rId4" Type="http://schemas.openxmlformats.org/officeDocument/2006/relationships/image" Target="../media/image2.png"/><Relationship Id="rId9" Type="http://schemas.openxmlformats.org/officeDocument/2006/relationships/chart" Target="../charts/char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Rectangle: Rounded Corners 24">
            <a:extLst>
              <a:ext uri="{FF2B5EF4-FFF2-40B4-BE49-F238E27FC236}">
                <a16:creationId xmlns:a16="http://schemas.microsoft.com/office/drawing/2014/main" id="{9D6AAF82-0DC6-9748-EAEB-9E3E96C657F0}"/>
              </a:ext>
            </a:extLst>
          </p:cNvPr>
          <p:cNvSpPr/>
          <p:nvPr/>
        </p:nvSpPr>
        <p:spPr>
          <a:xfrm>
            <a:off x="371508" y="431614"/>
            <a:ext cx="43148184" cy="5463735"/>
          </a:xfrm>
          <a:prstGeom prst="roundRect">
            <a:avLst>
              <a:gd name="adj" fmla="val 35861"/>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333" dirty="0">
                <a:latin typeface="+mj-lt"/>
              </a:rPr>
              <a:t>Unmasking the News: </a:t>
            </a:r>
          </a:p>
          <a:p>
            <a:pPr algn="ctr"/>
            <a:r>
              <a:rPr lang="en-US" sz="9333" dirty="0">
                <a:latin typeface="+mj-lt"/>
              </a:rPr>
              <a:t>Emotion and Content Analysis of Fake News</a:t>
            </a:r>
          </a:p>
          <a:p>
            <a:pPr algn="ctr"/>
            <a:r>
              <a:rPr lang="en-US" sz="6667" dirty="0">
                <a:latin typeface="+mj-lt"/>
              </a:rPr>
              <a:t>Renata Krivenko, Oliver Cheng, &amp; Daniel Vasilyev</a:t>
            </a:r>
          </a:p>
        </p:txBody>
      </p:sp>
      <p:sp>
        <p:nvSpPr>
          <p:cNvPr id="20" name="Rectangle: Rounded Corners 22">
            <a:extLst>
              <a:ext uri="{FF2B5EF4-FFF2-40B4-BE49-F238E27FC236}">
                <a16:creationId xmlns:a16="http://schemas.microsoft.com/office/drawing/2014/main" id="{3F93CDF0-212E-7618-53BA-E4EA9F554E7E}"/>
              </a:ext>
            </a:extLst>
          </p:cNvPr>
          <p:cNvSpPr/>
          <p:nvPr/>
        </p:nvSpPr>
        <p:spPr>
          <a:xfrm>
            <a:off x="16141148" y="8224450"/>
            <a:ext cx="27369909" cy="11685058"/>
          </a:xfrm>
          <a:prstGeom prst="roundRect">
            <a:avLst>
              <a:gd name="adj" fmla="val 3680"/>
            </a:avLst>
          </a:prstGeom>
          <a:solidFill>
            <a:schemeClr val="bg2">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360" dirty="0"/>
          </a:p>
        </p:txBody>
      </p:sp>
      <p:sp>
        <p:nvSpPr>
          <p:cNvPr id="45" name="Rectangle: Rounded Corners 24">
            <a:extLst>
              <a:ext uri="{FF2B5EF4-FFF2-40B4-BE49-F238E27FC236}">
                <a16:creationId xmlns:a16="http://schemas.microsoft.com/office/drawing/2014/main" id="{EB75215D-79B9-080B-E52B-D6098C97F9AD}"/>
              </a:ext>
            </a:extLst>
          </p:cNvPr>
          <p:cNvSpPr/>
          <p:nvPr/>
        </p:nvSpPr>
        <p:spPr>
          <a:xfrm>
            <a:off x="22830501" y="6233328"/>
            <a:ext cx="13411200" cy="1535925"/>
          </a:xfrm>
          <a:prstGeom prst="roundRect">
            <a:avLst>
              <a:gd name="adj" fmla="val 35861"/>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67" dirty="0">
                <a:latin typeface="+mj-lt"/>
              </a:rPr>
              <a:t>Results</a:t>
            </a:r>
          </a:p>
        </p:txBody>
      </p:sp>
      <p:pic>
        <p:nvPicPr>
          <p:cNvPr id="5" name="Picture 4" descr="A white circle with a star and text&#10;&#10;Description automatically generated">
            <a:extLst>
              <a:ext uri="{FF2B5EF4-FFF2-40B4-BE49-F238E27FC236}">
                <a16:creationId xmlns:a16="http://schemas.microsoft.com/office/drawing/2014/main" id="{562354E5-CA1A-025D-9921-F5B7151EA4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9086" y="920173"/>
            <a:ext cx="3951260" cy="4300131"/>
          </a:xfrm>
          <a:prstGeom prst="rect">
            <a:avLst/>
          </a:prstGeom>
        </p:spPr>
      </p:pic>
      <p:pic>
        <p:nvPicPr>
          <p:cNvPr id="7" name="Picture 6" descr="A black background with white text&#10;&#10;Description automatically generated">
            <a:extLst>
              <a:ext uri="{FF2B5EF4-FFF2-40B4-BE49-F238E27FC236}">
                <a16:creationId xmlns:a16="http://schemas.microsoft.com/office/drawing/2014/main" id="{7986A046-74CF-4C4B-FFF3-2E0A28C521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876499" y="1371799"/>
            <a:ext cx="6705613" cy="3317127"/>
          </a:xfrm>
          <a:prstGeom prst="rect">
            <a:avLst/>
          </a:prstGeom>
        </p:spPr>
      </p:pic>
      <p:sp>
        <p:nvSpPr>
          <p:cNvPr id="11" name="Rectangle: Rounded Corners 24">
            <a:extLst>
              <a:ext uri="{FF2B5EF4-FFF2-40B4-BE49-F238E27FC236}">
                <a16:creationId xmlns:a16="http://schemas.microsoft.com/office/drawing/2014/main" id="{19E93520-E4F5-F3C3-36B2-075E0405641A}"/>
              </a:ext>
            </a:extLst>
          </p:cNvPr>
          <p:cNvSpPr/>
          <p:nvPr/>
        </p:nvSpPr>
        <p:spPr>
          <a:xfrm>
            <a:off x="2973471" y="6211867"/>
            <a:ext cx="9270602" cy="1535925"/>
          </a:xfrm>
          <a:prstGeom prst="roundRect">
            <a:avLst>
              <a:gd name="adj" fmla="val 35861"/>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67" dirty="0">
                <a:latin typeface="+mj-lt"/>
              </a:rPr>
              <a:t>Introduction</a:t>
            </a:r>
          </a:p>
        </p:txBody>
      </p:sp>
      <p:sp>
        <p:nvSpPr>
          <p:cNvPr id="18" name="Rectangle: Rounded Corners 24">
            <a:extLst>
              <a:ext uri="{FF2B5EF4-FFF2-40B4-BE49-F238E27FC236}">
                <a16:creationId xmlns:a16="http://schemas.microsoft.com/office/drawing/2014/main" id="{77C9414A-BB5C-1B68-DE7F-BD965D4AF937}"/>
              </a:ext>
            </a:extLst>
          </p:cNvPr>
          <p:cNvSpPr/>
          <p:nvPr/>
        </p:nvSpPr>
        <p:spPr>
          <a:xfrm>
            <a:off x="37082985" y="20245158"/>
            <a:ext cx="5586786" cy="1399679"/>
          </a:xfrm>
          <a:prstGeom prst="roundRect">
            <a:avLst>
              <a:gd name="adj" fmla="val 35861"/>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67" dirty="0">
                <a:latin typeface="+mj-lt"/>
              </a:rPr>
              <a:t>References</a:t>
            </a:r>
          </a:p>
        </p:txBody>
      </p:sp>
      <p:sp>
        <p:nvSpPr>
          <p:cNvPr id="21" name="Rectangle: Rounded Corners 22">
            <a:extLst>
              <a:ext uri="{FF2B5EF4-FFF2-40B4-BE49-F238E27FC236}">
                <a16:creationId xmlns:a16="http://schemas.microsoft.com/office/drawing/2014/main" id="{F51D757C-044C-3B1D-963A-481112BE9A14}"/>
              </a:ext>
            </a:extLst>
          </p:cNvPr>
          <p:cNvSpPr/>
          <p:nvPr/>
        </p:nvSpPr>
        <p:spPr>
          <a:xfrm>
            <a:off x="20333167" y="21980489"/>
            <a:ext cx="15104833" cy="10506298"/>
          </a:xfrm>
          <a:prstGeom prst="roundRect">
            <a:avLst>
              <a:gd name="adj" fmla="val 3680"/>
            </a:avLst>
          </a:prstGeom>
          <a:solidFill>
            <a:schemeClr val="bg2">
              <a:lumMod val="7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71500" indent="-571500">
              <a:buFont typeface="Wingdings" pitchFamily="2" charset="2"/>
              <a:buChar char="v"/>
            </a:pPr>
            <a:r>
              <a:rPr lang="en-US" sz="4000" dirty="0">
                <a:solidFill>
                  <a:schemeClr val="tx1"/>
                </a:solidFill>
              </a:rPr>
              <a:t>Our findings show both similarities and differences between fake and real news in terms of emotional tone. Fake news headlines contained significantly more expressions of disgust and anger, while real news headlines tended to have a more neutral emotional tone. Aside from these differences, other emotions were relatively similar across both types. In the article text, fake news showed slightly higher levels of each negative emotion, whereas real news included much more joy and neutral tone overall.</a:t>
            </a:r>
          </a:p>
          <a:p>
            <a:pPr marL="609585" indent="-609585">
              <a:buFont typeface="Wingdings" pitchFamily="2" charset="2"/>
              <a:buChar char="v"/>
            </a:pPr>
            <a:r>
              <a:rPr lang="en-US" sz="4000" dirty="0">
                <a:solidFill>
                  <a:schemeClr val="tx1"/>
                </a:solidFill>
              </a:rPr>
              <a:t>When we looked at topic modeling, we found that fake news stories had a mix of patterns. Some topics stayed the same over time, like the focus on Donald Trump. Others changed, which suggests that fake news shifts its content to match whatever is happening in the world and stay relevant.</a:t>
            </a:r>
          </a:p>
          <a:p>
            <a:pPr marL="609585" indent="-609585">
              <a:buFont typeface="Wingdings" pitchFamily="2" charset="2"/>
              <a:buChar char="v"/>
            </a:pPr>
            <a:r>
              <a:rPr lang="en-US" sz="4000" dirty="0">
                <a:solidFill>
                  <a:schemeClr val="tx1"/>
                </a:solidFill>
              </a:rPr>
              <a:t>From here, we can expand the time frame to compare real and fake news across more significant years, such as 2020 during the COVID-19 pandemic or 2022 during the Russia-Ukraine war.</a:t>
            </a:r>
            <a:endParaRPr lang="en-US" sz="4000" b="0" i="0" u="none" strike="noStrike" dirty="0">
              <a:solidFill>
                <a:schemeClr val="tx1"/>
              </a:solidFill>
              <a:effectLst/>
              <a:latin typeface="Aptos" panose="020B0004020202020204" pitchFamily="34" charset="0"/>
            </a:endParaRPr>
          </a:p>
        </p:txBody>
      </p:sp>
      <p:sp>
        <p:nvSpPr>
          <p:cNvPr id="22" name="Rectangle: Rounded Corners 22">
            <a:extLst>
              <a:ext uri="{FF2B5EF4-FFF2-40B4-BE49-F238E27FC236}">
                <a16:creationId xmlns:a16="http://schemas.microsoft.com/office/drawing/2014/main" id="{53A02239-FC91-2926-9C41-7DBAEFC77CCD}"/>
              </a:ext>
            </a:extLst>
          </p:cNvPr>
          <p:cNvSpPr/>
          <p:nvPr/>
        </p:nvSpPr>
        <p:spPr>
          <a:xfrm>
            <a:off x="36241701" y="21980488"/>
            <a:ext cx="7269355" cy="10506298"/>
          </a:xfrm>
          <a:prstGeom prst="roundRect">
            <a:avLst>
              <a:gd name="adj" fmla="val 3680"/>
            </a:avLst>
          </a:prstGeom>
          <a:solidFill>
            <a:schemeClr val="bg2">
              <a:lumMod val="7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US" sz="2200" dirty="0">
                <a:solidFill>
                  <a:schemeClr val="tx1"/>
                </a:solidFill>
              </a:rPr>
              <a:t>1. Allcott, H., &amp; Gentzkow, M. (2017). Social media and fake news in the 2016 election. </a:t>
            </a:r>
            <a:r>
              <a:rPr lang="en-US" sz="2200" i="1" dirty="0">
                <a:solidFill>
                  <a:schemeClr val="tx1"/>
                </a:solidFill>
              </a:rPr>
              <a:t>Journal of Economic Perspectives, 31</a:t>
            </a:r>
            <a:r>
              <a:rPr lang="en-US" sz="2200" dirty="0">
                <a:solidFill>
                  <a:schemeClr val="tx1"/>
                </a:solidFill>
              </a:rPr>
              <a:t>(2), 211–236. https://</a:t>
            </a:r>
            <a:r>
              <a:rPr lang="en-US" sz="2200" dirty="0" err="1">
                <a:solidFill>
                  <a:schemeClr val="tx1"/>
                </a:solidFill>
              </a:rPr>
              <a:t>doi.org</a:t>
            </a:r>
            <a:r>
              <a:rPr lang="en-US" sz="2200" dirty="0">
                <a:solidFill>
                  <a:schemeClr val="tx1"/>
                </a:solidFill>
              </a:rPr>
              <a:t>/10.1257/jep.31.2.211</a:t>
            </a:r>
          </a:p>
          <a:p>
            <a:pPr>
              <a:buNone/>
            </a:pPr>
            <a:r>
              <a:rPr lang="en-US" sz="2200" dirty="0">
                <a:solidFill>
                  <a:schemeClr val="tx1"/>
                </a:solidFill>
              </a:rPr>
              <a:t>2. Lazar, A., Ribak, R., &amp; Davidson, R. (2018). Politics and the personalization of news consumption: Representations of fake news among users of news apps. </a:t>
            </a:r>
            <a:r>
              <a:rPr lang="en-US" sz="2200" i="1" dirty="0">
                <a:solidFill>
                  <a:schemeClr val="tx1"/>
                </a:solidFill>
              </a:rPr>
              <a:t>Television &amp; New Media, 19</a:t>
            </a:r>
            <a:r>
              <a:rPr lang="en-US" sz="2200" dirty="0">
                <a:solidFill>
                  <a:schemeClr val="tx1"/>
                </a:solidFill>
              </a:rPr>
              <a:t>(5), 425–440. https://</a:t>
            </a:r>
            <a:r>
              <a:rPr lang="en-US" sz="2200" dirty="0" err="1">
                <a:solidFill>
                  <a:schemeClr val="tx1"/>
                </a:solidFill>
              </a:rPr>
              <a:t>doi.org</a:t>
            </a:r>
            <a:r>
              <a:rPr lang="en-US" sz="2200" dirty="0">
                <a:solidFill>
                  <a:schemeClr val="tx1"/>
                </a:solidFill>
              </a:rPr>
              <a:t>/10.1177/1527476417751950</a:t>
            </a:r>
          </a:p>
          <a:p>
            <a:pPr>
              <a:buNone/>
            </a:pPr>
            <a:r>
              <a:rPr lang="en-US" sz="2200" dirty="0">
                <a:solidFill>
                  <a:schemeClr val="tx1"/>
                </a:solidFill>
              </a:rPr>
              <a:t>3. Ma, J., Gao, W., &amp; Wong, K. F. (2016). Detect rumors in microblog posts using propagation structure via kernel learning. </a:t>
            </a:r>
            <a:r>
              <a:rPr lang="en-US" sz="2200" i="1" dirty="0">
                <a:solidFill>
                  <a:schemeClr val="tx1"/>
                </a:solidFill>
              </a:rPr>
              <a:t>Association for Computational Linguistics (ACL)</a:t>
            </a:r>
            <a:r>
              <a:rPr lang="en-US" sz="2200" dirty="0">
                <a:solidFill>
                  <a:schemeClr val="tx1"/>
                </a:solidFill>
              </a:rPr>
              <a:t>. https://</a:t>
            </a:r>
            <a:r>
              <a:rPr lang="en-US" sz="2200" dirty="0" err="1">
                <a:solidFill>
                  <a:schemeClr val="tx1"/>
                </a:solidFill>
              </a:rPr>
              <a:t>doi.org</a:t>
            </a:r>
            <a:r>
              <a:rPr lang="en-US" sz="2200" dirty="0">
                <a:solidFill>
                  <a:schemeClr val="tx1"/>
                </a:solidFill>
              </a:rPr>
              <a:t>/10.18653/v1/P16-1148</a:t>
            </a:r>
          </a:p>
          <a:p>
            <a:pPr>
              <a:buNone/>
            </a:pPr>
            <a:r>
              <a:rPr lang="en-US" sz="2200" dirty="0">
                <a:solidFill>
                  <a:schemeClr val="tx1"/>
                </a:solidFill>
              </a:rPr>
              <a:t>4. Martel, C., Pennycook, G., &amp; Rand, D. G. (2019). Reliance on emotion promotes belief in fake news. </a:t>
            </a:r>
            <a:r>
              <a:rPr lang="en-US" sz="2200" i="1" dirty="0">
                <a:solidFill>
                  <a:schemeClr val="tx1"/>
                </a:solidFill>
              </a:rPr>
              <a:t>Cognitive Research: Principles and Implications, 4</a:t>
            </a:r>
            <a:r>
              <a:rPr lang="en-US" sz="2200" dirty="0">
                <a:solidFill>
                  <a:schemeClr val="tx1"/>
                </a:solidFill>
              </a:rPr>
              <a:t>(24). https://</a:t>
            </a:r>
            <a:r>
              <a:rPr lang="en-US" sz="2200" dirty="0" err="1">
                <a:solidFill>
                  <a:schemeClr val="tx1"/>
                </a:solidFill>
              </a:rPr>
              <a:t>doi.org</a:t>
            </a:r>
            <a:r>
              <a:rPr lang="en-US" sz="2200" dirty="0">
                <a:solidFill>
                  <a:schemeClr val="tx1"/>
                </a:solidFill>
              </a:rPr>
              <a:t>/10.1186/s41235-019-0175-6</a:t>
            </a:r>
          </a:p>
          <a:p>
            <a:pPr>
              <a:buNone/>
            </a:pPr>
            <a:r>
              <a:rPr lang="en-US" sz="2200" dirty="0">
                <a:solidFill>
                  <a:schemeClr val="tx1"/>
                </a:solidFill>
              </a:rPr>
              <a:t>5. Pennycook, G., &amp; Rand, D. G. (2019). Lazy, not biased: Susceptibility to partisan fake news is better explained by lack of reasoning than by motivated reasoning. </a:t>
            </a:r>
            <a:r>
              <a:rPr lang="en-US" sz="2200" i="1" dirty="0">
                <a:solidFill>
                  <a:schemeClr val="tx1"/>
                </a:solidFill>
              </a:rPr>
              <a:t>Cognition, 188</a:t>
            </a:r>
            <a:r>
              <a:rPr lang="en-US" sz="2200" dirty="0">
                <a:solidFill>
                  <a:schemeClr val="tx1"/>
                </a:solidFill>
              </a:rPr>
              <a:t>, 39–50. https://</a:t>
            </a:r>
            <a:r>
              <a:rPr lang="en-US" sz="2200" dirty="0" err="1">
                <a:solidFill>
                  <a:schemeClr val="tx1"/>
                </a:solidFill>
              </a:rPr>
              <a:t>doi.org</a:t>
            </a:r>
            <a:r>
              <a:rPr lang="en-US" sz="2200" dirty="0">
                <a:solidFill>
                  <a:schemeClr val="tx1"/>
                </a:solidFill>
              </a:rPr>
              <a:t>/10.1016/j.cognition.2018.06.011</a:t>
            </a:r>
          </a:p>
          <a:p>
            <a:pPr>
              <a:buNone/>
            </a:pPr>
            <a:r>
              <a:rPr lang="en-US" sz="2200" dirty="0">
                <a:solidFill>
                  <a:schemeClr val="tx1"/>
                </a:solidFill>
              </a:rPr>
              <a:t>6. Wang, W. Y. (2017). "Liar, Liar Pants on Fire": A new benchmark dataset for fake news detection. </a:t>
            </a:r>
            <a:r>
              <a:rPr lang="en-US" sz="2200" i="1" dirty="0">
                <a:solidFill>
                  <a:schemeClr val="tx1"/>
                </a:solidFill>
              </a:rPr>
              <a:t>ACL 2017</a:t>
            </a:r>
            <a:r>
              <a:rPr lang="en-US" sz="2200" dirty="0">
                <a:solidFill>
                  <a:schemeClr val="tx1"/>
                </a:solidFill>
              </a:rPr>
              <a:t>. https://</a:t>
            </a:r>
            <a:r>
              <a:rPr lang="en-US" sz="2200" dirty="0" err="1">
                <a:solidFill>
                  <a:schemeClr val="tx1"/>
                </a:solidFill>
              </a:rPr>
              <a:t>doi.org</a:t>
            </a:r>
            <a:r>
              <a:rPr lang="en-US" sz="2200" dirty="0">
                <a:solidFill>
                  <a:schemeClr val="tx1"/>
                </a:solidFill>
              </a:rPr>
              <a:t>/10.18653/v1/P17-2067</a:t>
            </a:r>
          </a:p>
          <a:p>
            <a:r>
              <a:rPr lang="en-US" sz="2200" dirty="0">
                <a:solidFill>
                  <a:schemeClr val="tx1"/>
                </a:solidFill>
              </a:rPr>
              <a:t>7. Wang, Y., McKee, M., Torbica, A., &amp; Stuckler, D. (2019). Systematic literature review on the spread of health-related misinformation on social media. </a:t>
            </a:r>
            <a:r>
              <a:rPr lang="en-US" sz="2200" i="1" dirty="0">
                <a:solidFill>
                  <a:schemeClr val="tx1"/>
                </a:solidFill>
              </a:rPr>
              <a:t>Social Science &amp; Medicine, 240</a:t>
            </a:r>
            <a:r>
              <a:rPr lang="en-US" sz="2200" dirty="0">
                <a:solidFill>
                  <a:schemeClr val="tx1"/>
                </a:solidFill>
              </a:rPr>
              <a:t>, 112552. https://</a:t>
            </a:r>
            <a:r>
              <a:rPr lang="en-US" sz="2200" dirty="0" err="1">
                <a:solidFill>
                  <a:schemeClr val="tx1"/>
                </a:solidFill>
              </a:rPr>
              <a:t>doi.org</a:t>
            </a:r>
            <a:r>
              <a:rPr lang="en-US" sz="2200" dirty="0">
                <a:solidFill>
                  <a:schemeClr val="tx1"/>
                </a:solidFill>
              </a:rPr>
              <a:t>/10.1016/j.socscimed.2019.112552</a:t>
            </a:r>
          </a:p>
        </p:txBody>
      </p:sp>
      <p:sp>
        <p:nvSpPr>
          <p:cNvPr id="1053" name="Rectangle: Rounded Corners 22">
            <a:extLst>
              <a:ext uri="{FF2B5EF4-FFF2-40B4-BE49-F238E27FC236}">
                <a16:creationId xmlns:a16="http://schemas.microsoft.com/office/drawing/2014/main" id="{7F8F764F-0543-4C4D-2408-054B65AA09EF}"/>
              </a:ext>
            </a:extLst>
          </p:cNvPr>
          <p:cNvSpPr/>
          <p:nvPr/>
        </p:nvSpPr>
        <p:spPr>
          <a:xfrm>
            <a:off x="371508" y="21158914"/>
            <a:ext cx="18883200" cy="11541788"/>
          </a:xfrm>
          <a:prstGeom prst="roundRect">
            <a:avLst>
              <a:gd name="adj" fmla="val 3680"/>
            </a:avLst>
          </a:prstGeom>
          <a:solidFill>
            <a:schemeClr val="bg2">
              <a:lumMod val="7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800" dirty="0">
              <a:solidFill>
                <a:schemeClr val="bg1"/>
              </a:solidFill>
              <a:latin typeface="Georgia" panose="02040502050405020303" pitchFamily="18" charset="0"/>
            </a:endParaRPr>
          </a:p>
          <a:p>
            <a:endParaRPr lang="en-US" sz="2800" dirty="0">
              <a:solidFill>
                <a:schemeClr val="bg1"/>
              </a:solidFill>
              <a:latin typeface="Georgia" panose="02040502050405020303" pitchFamily="18" charset="0"/>
            </a:endParaRPr>
          </a:p>
          <a:p>
            <a:endParaRPr lang="en-US" sz="2800" dirty="0">
              <a:solidFill>
                <a:schemeClr val="bg1"/>
              </a:solidFill>
              <a:latin typeface="Georgia" panose="02040502050405020303" pitchFamily="18" charset="0"/>
            </a:endParaRPr>
          </a:p>
          <a:p>
            <a:endParaRPr lang="en-US" sz="2800" dirty="0">
              <a:solidFill>
                <a:schemeClr val="bg1"/>
              </a:solidFill>
              <a:latin typeface="Georgia" panose="02040502050405020303" pitchFamily="18" charset="0"/>
            </a:endParaRPr>
          </a:p>
          <a:p>
            <a:endParaRPr lang="en-US" sz="2800" dirty="0">
              <a:solidFill>
                <a:schemeClr val="bg1"/>
              </a:solidFill>
              <a:latin typeface="Georgia" panose="02040502050405020303" pitchFamily="18" charset="0"/>
            </a:endParaRPr>
          </a:p>
          <a:p>
            <a:endParaRPr lang="en-US" sz="2800" dirty="0">
              <a:solidFill>
                <a:schemeClr val="bg1"/>
              </a:solidFill>
              <a:latin typeface="Georgia" panose="02040502050405020303" pitchFamily="18" charset="0"/>
            </a:endParaRPr>
          </a:p>
          <a:p>
            <a:endParaRPr lang="en-US" sz="2800" dirty="0">
              <a:solidFill>
                <a:schemeClr val="bg1"/>
              </a:solidFill>
              <a:latin typeface="Georgia" panose="02040502050405020303" pitchFamily="18" charset="0"/>
            </a:endParaRPr>
          </a:p>
          <a:p>
            <a:endParaRPr lang="en-US" sz="2800" dirty="0">
              <a:solidFill>
                <a:schemeClr val="bg1"/>
              </a:solidFill>
              <a:latin typeface="Georgia" panose="02040502050405020303" pitchFamily="18" charset="0"/>
            </a:endParaRPr>
          </a:p>
          <a:p>
            <a:endParaRPr lang="en-US" sz="2800" dirty="0">
              <a:solidFill>
                <a:schemeClr val="bg1"/>
              </a:solidFill>
              <a:latin typeface="Georgia" panose="02040502050405020303" pitchFamily="18" charset="0"/>
            </a:endParaRPr>
          </a:p>
          <a:p>
            <a:endParaRPr lang="en-US" sz="2800" dirty="0">
              <a:solidFill>
                <a:schemeClr val="bg1"/>
              </a:solidFill>
              <a:latin typeface="Georgia" panose="02040502050405020303" pitchFamily="18" charset="0"/>
            </a:endParaRPr>
          </a:p>
          <a:p>
            <a:endParaRPr lang="en-US" sz="2800" dirty="0">
              <a:solidFill>
                <a:schemeClr val="bg1"/>
              </a:solidFill>
              <a:latin typeface="Georgia" panose="02040502050405020303" pitchFamily="18" charset="0"/>
            </a:endParaRPr>
          </a:p>
          <a:p>
            <a:endParaRPr lang="en-US" sz="2800" dirty="0">
              <a:solidFill>
                <a:schemeClr val="bg1"/>
              </a:solidFill>
              <a:latin typeface="Georgia" panose="02040502050405020303" pitchFamily="18" charset="0"/>
            </a:endParaRPr>
          </a:p>
          <a:p>
            <a:endParaRPr lang="en-US" sz="2800" dirty="0">
              <a:solidFill>
                <a:schemeClr val="bg1"/>
              </a:solidFill>
              <a:latin typeface="Georgia" panose="02040502050405020303" pitchFamily="18" charset="0"/>
            </a:endParaRPr>
          </a:p>
          <a:p>
            <a:endParaRPr lang="en-US" sz="2800" dirty="0">
              <a:solidFill>
                <a:schemeClr val="bg1"/>
              </a:solidFill>
              <a:latin typeface="Georgia" panose="02040502050405020303" pitchFamily="18" charset="0"/>
            </a:endParaRPr>
          </a:p>
          <a:p>
            <a:endParaRPr lang="en-US" sz="2800" dirty="0">
              <a:solidFill>
                <a:schemeClr val="bg1"/>
              </a:solidFill>
            </a:endParaRPr>
          </a:p>
          <a:p>
            <a:br>
              <a:rPr lang="en-US" sz="3360" dirty="0"/>
            </a:br>
            <a:endParaRPr lang="en-US" sz="3360" dirty="0"/>
          </a:p>
        </p:txBody>
      </p:sp>
      <p:sp>
        <p:nvSpPr>
          <p:cNvPr id="1134" name="Rectangle: Rounded Corners 22">
            <a:extLst>
              <a:ext uri="{FF2B5EF4-FFF2-40B4-BE49-F238E27FC236}">
                <a16:creationId xmlns:a16="http://schemas.microsoft.com/office/drawing/2014/main" id="{0EDB5CA9-E2A4-44A2-6410-3DBF59BA6548}"/>
              </a:ext>
            </a:extLst>
          </p:cNvPr>
          <p:cNvSpPr/>
          <p:nvPr/>
        </p:nvSpPr>
        <p:spPr>
          <a:xfrm>
            <a:off x="308847" y="8138925"/>
            <a:ext cx="14599850" cy="10471582"/>
          </a:xfrm>
          <a:prstGeom prst="roundRect">
            <a:avLst>
              <a:gd name="adj" fmla="val 3680"/>
            </a:avLst>
          </a:prstGeom>
          <a:solidFill>
            <a:schemeClr val="bg2">
              <a:lumMod val="7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dirty="0">
                <a:solidFill>
                  <a:schemeClr val="tx1"/>
                </a:solidFill>
              </a:rPr>
              <a:t>Fake news has become an increasingly powerful force in shaping public opinion (Lazar et al., 2018). It has played major roles in presidential elections (Allcott &amp; Gentzkow, 2017) and has been harmful for domains like public health (Wang et al., 2019). Fake news is particularly effective when individuals rely on emotional intuition instead of engaging in analytical thinking (Pennycook &amp; Rand, 2019; Martel et al., 2019). </a:t>
            </a:r>
          </a:p>
          <a:p>
            <a:endParaRPr lang="en-US" sz="4000" dirty="0">
              <a:solidFill>
                <a:schemeClr val="tx1"/>
              </a:solidFill>
            </a:endParaRPr>
          </a:p>
          <a:p>
            <a:r>
              <a:rPr lang="en-US" sz="4000" dirty="0">
                <a:solidFill>
                  <a:schemeClr val="tx1"/>
                </a:solidFill>
              </a:rPr>
              <a:t>While much research has focused on detecting fake news using advanced machine learning (Ma et al., 2016; Wang et al., 2018), less is known about how its </a:t>
            </a:r>
            <a:r>
              <a:rPr lang="en-US" sz="4000" i="1" dirty="0">
                <a:solidFill>
                  <a:schemeClr val="tx1"/>
                </a:solidFill>
              </a:rPr>
              <a:t>content</a:t>
            </a:r>
            <a:r>
              <a:rPr lang="en-US" sz="4000" dirty="0">
                <a:solidFill>
                  <a:schemeClr val="tx1"/>
                </a:solidFill>
              </a:rPr>
              <a:t> changes over time. This study examines the emotional tone present in both the titles and full text of real and fake news articles, with the goal of identifying patterns in how emotion is used across news types. In addition, it conducts a topic analysis of fake news content over a four-year period to uncover how the focus and themes of misinformation</a:t>
            </a:r>
          </a:p>
        </p:txBody>
      </p:sp>
      <p:sp>
        <p:nvSpPr>
          <p:cNvPr id="3" name="Rectangle: Rounded Corners 24">
            <a:extLst>
              <a:ext uri="{FF2B5EF4-FFF2-40B4-BE49-F238E27FC236}">
                <a16:creationId xmlns:a16="http://schemas.microsoft.com/office/drawing/2014/main" id="{04333979-5240-DB98-B869-4668AA0745DA}"/>
              </a:ext>
            </a:extLst>
          </p:cNvPr>
          <p:cNvSpPr/>
          <p:nvPr/>
        </p:nvSpPr>
        <p:spPr>
          <a:xfrm>
            <a:off x="5367747" y="19009789"/>
            <a:ext cx="8907992" cy="1535925"/>
          </a:xfrm>
          <a:prstGeom prst="roundRect">
            <a:avLst>
              <a:gd name="adj" fmla="val 35861"/>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67" dirty="0">
                <a:latin typeface="+mj-lt"/>
              </a:rPr>
              <a:t>Methods</a:t>
            </a:r>
          </a:p>
        </p:txBody>
      </p:sp>
      <p:sp>
        <p:nvSpPr>
          <p:cNvPr id="4" name="Rectangle: Rounded Corners 24">
            <a:extLst>
              <a:ext uri="{FF2B5EF4-FFF2-40B4-BE49-F238E27FC236}">
                <a16:creationId xmlns:a16="http://schemas.microsoft.com/office/drawing/2014/main" id="{2552C676-6364-CD63-583F-88918BA4450B}"/>
              </a:ext>
            </a:extLst>
          </p:cNvPr>
          <p:cNvSpPr/>
          <p:nvPr/>
        </p:nvSpPr>
        <p:spPr>
          <a:xfrm>
            <a:off x="24627858" y="20429577"/>
            <a:ext cx="7952509" cy="1327062"/>
          </a:xfrm>
          <a:prstGeom prst="roundRect">
            <a:avLst>
              <a:gd name="adj" fmla="val 35861"/>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67" dirty="0">
                <a:latin typeface="+mj-lt"/>
              </a:rPr>
              <a:t>Conclusion</a:t>
            </a:r>
          </a:p>
        </p:txBody>
      </p:sp>
      <p:graphicFrame>
        <p:nvGraphicFramePr>
          <p:cNvPr id="50" name="Chart 49">
            <a:extLst>
              <a:ext uri="{FF2B5EF4-FFF2-40B4-BE49-F238E27FC236}">
                <a16:creationId xmlns:a16="http://schemas.microsoft.com/office/drawing/2014/main" id="{61413955-C16D-0079-7243-8CC56EBD3E8A}"/>
              </a:ext>
            </a:extLst>
          </p:cNvPr>
          <p:cNvGraphicFramePr>
            <a:graphicFrameLocks/>
          </p:cNvGraphicFramePr>
          <p:nvPr>
            <p:extLst>
              <p:ext uri="{D42A27DB-BD31-4B8C-83A1-F6EECF244321}">
                <p14:modId xmlns:p14="http://schemas.microsoft.com/office/powerpoint/2010/main" val="761932790"/>
              </p:ext>
            </p:extLst>
          </p:nvPr>
        </p:nvGraphicFramePr>
        <p:xfrm>
          <a:off x="16537554" y="14063166"/>
          <a:ext cx="9771739" cy="5559959"/>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51" name="Chart 50">
            <a:extLst>
              <a:ext uri="{FF2B5EF4-FFF2-40B4-BE49-F238E27FC236}">
                <a16:creationId xmlns:a16="http://schemas.microsoft.com/office/drawing/2014/main" id="{5222E188-8C96-6C42-B28D-D0F753E4F1E5}"/>
              </a:ext>
            </a:extLst>
          </p:cNvPr>
          <p:cNvGraphicFramePr>
            <a:graphicFrameLocks/>
          </p:cNvGraphicFramePr>
          <p:nvPr>
            <p:extLst>
              <p:ext uri="{D42A27DB-BD31-4B8C-83A1-F6EECF244321}">
                <p14:modId xmlns:p14="http://schemas.microsoft.com/office/powerpoint/2010/main" val="2430934085"/>
              </p:ext>
            </p:extLst>
          </p:nvPr>
        </p:nvGraphicFramePr>
        <p:xfrm>
          <a:off x="16445227" y="8307097"/>
          <a:ext cx="9864069" cy="5566826"/>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55" name="Chart 54">
            <a:extLst>
              <a:ext uri="{FF2B5EF4-FFF2-40B4-BE49-F238E27FC236}">
                <a16:creationId xmlns:a16="http://schemas.microsoft.com/office/drawing/2014/main" id="{1E47EEEA-A403-12BC-F51F-A9DC928EA6D9}"/>
              </a:ext>
            </a:extLst>
          </p:cNvPr>
          <p:cNvGraphicFramePr>
            <a:graphicFrameLocks/>
          </p:cNvGraphicFramePr>
          <p:nvPr>
            <p:extLst>
              <p:ext uri="{D42A27DB-BD31-4B8C-83A1-F6EECF244321}">
                <p14:modId xmlns:p14="http://schemas.microsoft.com/office/powerpoint/2010/main" val="925884302"/>
              </p:ext>
            </p:extLst>
          </p:nvPr>
        </p:nvGraphicFramePr>
        <p:xfrm>
          <a:off x="25658617" y="8331708"/>
          <a:ext cx="8598940" cy="5687196"/>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58" name="Chart 57">
            <a:extLst>
              <a:ext uri="{FF2B5EF4-FFF2-40B4-BE49-F238E27FC236}">
                <a16:creationId xmlns:a16="http://schemas.microsoft.com/office/drawing/2014/main" id="{1E47EEEA-A403-12BC-F51F-A9DC928EA6D9}"/>
              </a:ext>
            </a:extLst>
          </p:cNvPr>
          <p:cNvGraphicFramePr>
            <a:graphicFrameLocks/>
          </p:cNvGraphicFramePr>
          <p:nvPr>
            <p:extLst>
              <p:ext uri="{D42A27DB-BD31-4B8C-83A1-F6EECF244321}">
                <p14:modId xmlns:p14="http://schemas.microsoft.com/office/powerpoint/2010/main" val="2309886045"/>
              </p:ext>
            </p:extLst>
          </p:nvPr>
        </p:nvGraphicFramePr>
        <p:xfrm>
          <a:off x="25658616" y="14283230"/>
          <a:ext cx="8598934" cy="5666423"/>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59" name="Chart 58">
            <a:extLst>
              <a:ext uri="{FF2B5EF4-FFF2-40B4-BE49-F238E27FC236}">
                <a16:creationId xmlns:a16="http://schemas.microsoft.com/office/drawing/2014/main" id="{BB0D2B69-515A-3A45-8CE0-F00523FA487F}"/>
              </a:ext>
            </a:extLst>
          </p:cNvPr>
          <p:cNvGraphicFramePr>
            <a:graphicFrameLocks/>
          </p:cNvGraphicFramePr>
          <p:nvPr>
            <p:extLst>
              <p:ext uri="{D42A27DB-BD31-4B8C-83A1-F6EECF244321}">
                <p14:modId xmlns:p14="http://schemas.microsoft.com/office/powerpoint/2010/main" val="2168602263"/>
              </p:ext>
            </p:extLst>
          </p:nvPr>
        </p:nvGraphicFramePr>
        <p:xfrm>
          <a:off x="34881081" y="8331708"/>
          <a:ext cx="8598935" cy="5626278"/>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61" name="Chart 60">
            <a:extLst>
              <a:ext uri="{FF2B5EF4-FFF2-40B4-BE49-F238E27FC236}">
                <a16:creationId xmlns:a16="http://schemas.microsoft.com/office/drawing/2014/main" id="{ACB044D6-EFEA-F443-A617-16DC279C329E}"/>
              </a:ext>
            </a:extLst>
          </p:cNvPr>
          <p:cNvGraphicFramePr>
            <a:graphicFrameLocks/>
          </p:cNvGraphicFramePr>
          <p:nvPr>
            <p:extLst>
              <p:ext uri="{D42A27DB-BD31-4B8C-83A1-F6EECF244321}">
                <p14:modId xmlns:p14="http://schemas.microsoft.com/office/powerpoint/2010/main" val="4089737520"/>
              </p:ext>
            </p:extLst>
          </p:nvPr>
        </p:nvGraphicFramePr>
        <p:xfrm>
          <a:off x="34983419" y="14143097"/>
          <a:ext cx="8598934" cy="5687196"/>
        </p:xfrm>
        <a:graphic>
          <a:graphicData uri="http://schemas.openxmlformats.org/drawingml/2006/chart">
            <c:chart xmlns:c="http://schemas.openxmlformats.org/drawingml/2006/chart" xmlns:r="http://schemas.openxmlformats.org/officeDocument/2006/relationships" r:id="rId10"/>
          </a:graphicData>
        </a:graphic>
      </p:graphicFrame>
      <p:cxnSp>
        <p:nvCxnSpPr>
          <p:cNvPr id="8" name="Straight Connector 7">
            <a:extLst>
              <a:ext uri="{FF2B5EF4-FFF2-40B4-BE49-F238E27FC236}">
                <a16:creationId xmlns:a16="http://schemas.microsoft.com/office/drawing/2014/main" id="{48138D2B-1FED-56C2-074E-57D9AC694401}"/>
              </a:ext>
            </a:extLst>
          </p:cNvPr>
          <p:cNvCxnSpPr/>
          <p:nvPr/>
        </p:nvCxnSpPr>
        <p:spPr>
          <a:xfrm>
            <a:off x="25409237" y="8496340"/>
            <a:ext cx="0" cy="11255267"/>
          </a:xfrm>
          <a:prstGeom prst="line">
            <a:avLst/>
          </a:prstGeom>
        </p:spPr>
        <p:style>
          <a:lnRef idx="2">
            <a:schemeClr val="dk1"/>
          </a:lnRef>
          <a:fillRef idx="0">
            <a:schemeClr val="dk1"/>
          </a:fillRef>
          <a:effectRef idx="1">
            <a:schemeClr val="dk1"/>
          </a:effectRef>
          <a:fontRef idx="minor">
            <a:schemeClr val="tx1"/>
          </a:fontRef>
        </p:style>
      </p:cxnSp>
      <p:grpSp>
        <p:nvGrpSpPr>
          <p:cNvPr id="24" name="Group 23">
            <a:extLst>
              <a:ext uri="{FF2B5EF4-FFF2-40B4-BE49-F238E27FC236}">
                <a16:creationId xmlns:a16="http://schemas.microsoft.com/office/drawing/2014/main" id="{A2A49253-3784-95CC-190E-B7F95A622768}"/>
              </a:ext>
            </a:extLst>
          </p:cNvPr>
          <p:cNvGrpSpPr/>
          <p:nvPr/>
        </p:nvGrpSpPr>
        <p:grpSpPr>
          <a:xfrm>
            <a:off x="501110" y="21392147"/>
            <a:ext cx="18573280" cy="11152024"/>
            <a:chOff x="501110" y="21259320"/>
            <a:chExt cx="18573280" cy="11284851"/>
          </a:xfrm>
        </p:grpSpPr>
        <p:sp>
          <p:nvSpPr>
            <p:cNvPr id="13" name="Rounded Rectangle 12">
              <a:extLst>
                <a:ext uri="{FF2B5EF4-FFF2-40B4-BE49-F238E27FC236}">
                  <a16:creationId xmlns:a16="http://schemas.microsoft.com/office/drawing/2014/main" id="{BA2F5BF3-54CF-BB05-F8C3-F1D536913468}"/>
                </a:ext>
              </a:extLst>
            </p:cNvPr>
            <p:cNvSpPr/>
            <p:nvPr/>
          </p:nvSpPr>
          <p:spPr>
            <a:xfrm>
              <a:off x="7387518" y="21259320"/>
              <a:ext cx="4644572" cy="968041"/>
            </a:xfrm>
            <a:prstGeom prst="roundRect">
              <a:avLst/>
            </a:prstGeom>
            <a:solidFill>
              <a:schemeClr val="tx1">
                <a:lumMod val="75000"/>
                <a:lumOff val="2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67" dirty="0">
                  <a:solidFill>
                    <a:schemeClr val="accent1">
                      <a:lumMod val="60000"/>
                      <a:lumOff val="40000"/>
                    </a:schemeClr>
                  </a:solidFill>
                </a:rPr>
                <a:t>Kaggle</a:t>
              </a:r>
            </a:p>
          </p:txBody>
        </p:sp>
        <p:sp>
          <p:nvSpPr>
            <p:cNvPr id="15" name="Bent Arrow 14">
              <a:extLst>
                <a:ext uri="{FF2B5EF4-FFF2-40B4-BE49-F238E27FC236}">
                  <a16:creationId xmlns:a16="http://schemas.microsoft.com/office/drawing/2014/main" id="{0332C2CA-3E6F-7B4E-6913-40A83DC3163E}"/>
                </a:ext>
              </a:extLst>
            </p:cNvPr>
            <p:cNvSpPr/>
            <p:nvPr/>
          </p:nvSpPr>
          <p:spPr>
            <a:xfrm rot="5400000" flipV="1">
              <a:off x="5756266" y="23610878"/>
              <a:ext cx="1719817" cy="1445511"/>
            </a:xfrm>
            <a:prstGeom prst="bentArrow">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360">
                <a:solidFill>
                  <a:schemeClr val="tx1"/>
                </a:solidFill>
              </a:endParaRPr>
            </a:p>
          </p:txBody>
        </p:sp>
        <p:sp>
          <p:nvSpPr>
            <p:cNvPr id="17" name="Bent Arrow 16">
              <a:extLst>
                <a:ext uri="{FF2B5EF4-FFF2-40B4-BE49-F238E27FC236}">
                  <a16:creationId xmlns:a16="http://schemas.microsoft.com/office/drawing/2014/main" id="{0DE16601-B686-F7A9-CCA7-E6D01AF82F7D}"/>
                </a:ext>
              </a:extLst>
            </p:cNvPr>
            <p:cNvSpPr/>
            <p:nvPr/>
          </p:nvSpPr>
          <p:spPr>
            <a:xfrm rot="5400000">
              <a:off x="12079851" y="23610877"/>
              <a:ext cx="1719816" cy="1445513"/>
            </a:xfrm>
            <a:prstGeom prst="bentArrow">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360">
                <a:solidFill>
                  <a:schemeClr val="tx1"/>
                </a:solidFill>
              </a:endParaRPr>
            </a:p>
          </p:txBody>
        </p:sp>
        <p:sp>
          <p:nvSpPr>
            <p:cNvPr id="26" name="Up Arrow 25">
              <a:extLst>
                <a:ext uri="{FF2B5EF4-FFF2-40B4-BE49-F238E27FC236}">
                  <a16:creationId xmlns:a16="http://schemas.microsoft.com/office/drawing/2014/main" id="{4A960E1F-C4FF-71FD-28BE-0D7298C37B81}"/>
                </a:ext>
              </a:extLst>
            </p:cNvPr>
            <p:cNvSpPr/>
            <p:nvPr/>
          </p:nvSpPr>
          <p:spPr>
            <a:xfrm rot="7817637">
              <a:off x="9363323" y="27604043"/>
              <a:ext cx="694227" cy="1974971"/>
            </a:xfrm>
            <a:prstGeom prst="upArrow">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360"/>
            </a:p>
          </p:txBody>
        </p:sp>
        <p:sp>
          <p:nvSpPr>
            <p:cNvPr id="29" name="Rounded Rectangle 28">
              <a:extLst>
                <a:ext uri="{FF2B5EF4-FFF2-40B4-BE49-F238E27FC236}">
                  <a16:creationId xmlns:a16="http://schemas.microsoft.com/office/drawing/2014/main" id="{7BC32D4B-0FA2-BEAE-B5F8-C45D529F5495}"/>
                </a:ext>
              </a:extLst>
            </p:cNvPr>
            <p:cNvSpPr/>
            <p:nvPr/>
          </p:nvSpPr>
          <p:spPr>
            <a:xfrm>
              <a:off x="11122300" y="28779768"/>
              <a:ext cx="4326288" cy="2596693"/>
            </a:xfrm>
            <a:prstGeom prst="roundRect">
              <a:avLst/>
            </a:prstGeom>
            <a:solidFill>
              <a:schemeClr val="tx1">
                <a:lumMod val="75000"/>
                <a:lumOff val="2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333" dirty="0">
                  <a:solidFill>
                    <a:schemeClr val="bg1"/>
                  </a:solidFill>
                </a:rPr>
                <a:t>Emotional Analysis</a:t>
              </a:r>
            </a:p>
            <a:p>
              <a:pPr algn="ctr"/>
              <a:r>
                <a:rPr lang="en-US" sz="5333" dirty="0">
                  <a:solidFill>
                    <a:schemeClr val="bg1"/>
                  </a:solidFill>
                </a:rPr>
                <a:t>(2016-2017)</a:t>
              </a:r>
            </a:p>
          </p:txBody>
        </p:sp>
        <p:sp>
          <p:nvSpPr>
            <p:cNvPr id="30" name="Rounded Rectangle 29">
              <a:extLst>
                <a:ext uri="{FF2B5EF4-FFF2-40B4-BE49-F238E27FC236}">
                  <a16:creationId xmlns:a16="http://schemas.microsoft.com/office/drawing/2014/main" id="{D08204C4-98DD-E581-5228-45DA94ED8A74}"/>
                </a:ext>
              </a:extLst>
            </p:cNvPr>
            <p:cNvSpPr/>
            <p:nvPr/>
          </p:nvSpPr>
          <p:spPr>
            <a:xfrm>
              <a:off x="10837983" y="25444791"/>
              <a:ext cx="4894925" cy="2587071"/>
            </a:xfrm>
            <a:prstGeom prst="roundRect">
              <a:avLst/>
            </a:prstGeom>
            <a:solidFill>
              <a:schemeClr val="tx1">
                <a:lumMod val="75000"/>
                <a:lumOff val="2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333" dirty="0">
                  <a:solidFill>
                    <a:schemeClr val="bg1"/>
                  </a:solidFill>
                </a:rPr>
                <a:t>Real News Dataset</a:t>
              </a:r>
            </a:p>
            <a:p>
              <a:pPr algn="ctr"/>
              <a:r>
                <a:rPr lang="en-US" sz="5333" dirty="0">
                  <a:solidFill>
                    <a:schemeClr val="bg1"/>
                  </a:solidFill>
                </a:rPr>
                <a:t>(2016-2017)</a:t>
              </a:r>
            </a:p>
          </p:txBody>
        </p:sp>
        <p:sp>
          <p:nvSpPr>
            <p:cNvPr id="31" name="Rounded Rectangle 30">
              <a:extLst>
                <a:ext uri="{FF2B5EF4-FFF2-40B4-BE49-F238E27FC236}">
                  <a16:creationId xmlns:a16="http://schemas.microsoft.com/office/drawing/2014/main" id="{E526D67C-67C6-E983-0E9A-25B4083419EA}"/>
                </a:ext>
              </a:extLst>
            </p:cNvPr>
            <p:cNvSpPr/>
            <p:nvPr/>
          </p:nvSpPr>
          <p:spPr>
            <a:xfrm>
              <a:off x="3904064" y="25444791"/>
              <a:ext cx="4894925" cy="2587069"/>
            </a:xfrm>
            <a:prstGeom prst="roundRect">
              <a:avLst/>
            </a:prstGeom>
            <a:solidFill>
              <a:schemeClr val="tx1">
                <a:lumMod val="75000"/>
                <a:lumOff val="2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333" dirty="0">
                  <a:solidFill>
                    <a:schemeClr val="bg1"/>
                  </a:solidFill>
                </a:rPr>
                <a:t>Fake News Dataset</a:t>
              </a:r>
            </a:p>
            <a:p>
              <a:pPr algn="ctr"/>
              <a:r>
                <a:rPr lang="en-US" sz="5333" dirty="0">
                  <a:solidFill>
                    <a:schemeClr val="bg1"/>
                  </a:solidFill>
                </a:rPr>
                <a:t>(2015-2018)</a:t>
              </a:r>
            </a:p>
          </p:txBody>
        </p:sp>
        <p:sp>
          <p:nvSpPr>
            <p:cNvPr id="32" name="Up Arrow 31">
              <a:extLst>
                <a:ext uri="{FF2B5EF4-FFF2-40B4-BE49-F238E27FC236}">
                  <a16:creationId xmlns:a16="http://schemas.microsoft.com/office/drawing/2014/main" id="{62ABD62E-8E43-91F0-19D0-4FA2B24B4B99}"/>
                </a:ext>
              </a:extLst>
            </p:cNvPr>
            <p:cNvSpPr/>
            <p:nvPr/>
          </p:nvSpPr>
          <p:spPr>
            <a:xfrm rot="10800000">
              <a:off x="6170617" y="28149465"/>
              <a:ext cx="361817" cy="493114"/>
            </a:xfrm>
            <a:prstGeom prst="upArrow">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360"/>
            </a:p>
          </p:txBody>
        </p:sp>
        <p:sp>
          <p:nvSpPr>
            <p:cNvPr id="34" name="Rounded Rectangle 33">
              <a:extLst>
                <a:ext uri="{FF2B5EF4-FFF2-40B4-BE49-F238E27FC236}">
                  <a16:creationId xmlns:a16="http://schemas.microsoft.com/office/drawing/2014/main" id="{5D8ED763-ECAB-D949-87DD-A796EABF7F23}"/>
                </a:ext>
              </a:extLst>
            </p:cNvPr>
            <p:cNvSpPr/>
            <p:nvPr/>
          </p:nvSpPr>
          <p:spPr>
            <a:xfrm>
              <a:off x="4126912" y="28789392"/>
              <a:ext cx="4326288" cy="2587069"/>
            </a:xfrm>
            <a:prstGeom prst="roundRect">
              <a:avLst/>
            </a:prstGeom>
            <a:solidFill>
              <a:schemeClr val="tx1">
                <a:lumMod val="75000"/>
                <a:lumOff val="2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333" dirty="0">
                  <a:solidFill>
                    <a:schemeClr val="bg1"/>
                  </a:solidFill>
                </a:rPr>
                <a:t>Topic Modeling Evolution</a:t>
              </a:r>
            </a:p>
          </p:txBody>
        </p:sp>
        <p:sp>
          <p:nvSpPr>
            <p:cNvPr id="36" name="Rounded Rectangle 35">
              <a:extLst>
                <a:ext uri="{FF2B5EF4-FFF2-40B4-BE49-F238E27FC236}">
                  <a16:creationId xmlns:a16="http://schemas.microsoft.com/office/drawing/2014/main" id="{882F1BBF-2EB1-5187-2DFC-2997E9488CB4}"/>
                </a:ext>
              </a:extLst>
            </p:cNvPr>
            <p:cNvSpPr/>
            <p:nvPr/>
          </p:nvSpPr>
          <p:spPr>
            <a:xfrm>
              <a:off x="11727136" y="31412464"/>
              <a:ext cx="3181561" cy="965517"/>
            </a:xfrm>
            <a:prstGeom prst="roundRect">
              <a:avLst/>
            </a:prstGeom>
            <a:solidFill>
              <a:schemeClr val="tx1">
                <a:lumMod val="75000"/>
                <a:lumOff val="2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333" dirty="0">
                  <a:solidFill>
                    <a:schemeClr val="bg1"/>
                  </a:solidFill>
                </a:rPr>
                <a:t>Transformers Package</a:t>
              </a:r>
            </a:p>
          </p:txBody>
        </p:sp>
        <p:sp>
          <p:nvSpPr>
            <p:cNvPr id="38" name="Rounded Rectangle 37">
              <a:extLst>
                <a:ext uri="{FF2B5EF4-FFF2-40B4-BE49-F238E27FC236}">
                  <a16:creationId xmlns:a16="http://schemas.microsoft.com/office/drawing/2014/main" id="{074A4743-4E58-D98F-AB25-6DF6B850D467}"/>
                </a:ext>
              </a:extLst>
            </p:cNvPr>
            <p:cNvSpPr/>
            <p:nvPr/>
          </p:nvSpPr>
          <p:spPr>
            <a:xfrm>
              <a:off x="4760744" y="31412464"/>
              <a:ext cx="3181561" cy="965517"/>
            </a:xfrm>
            <a:prstGeom prst="roundRect">
              <a:avLst/>
            </a:prstGeom>
            <a:solidFill>
              <a:schemeClr val="tx1">
                <a:lumMod val="75000"/>
                <a:lumOff val="2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333" dirty="0">
                  <a:solidFill>
                    <a:schemeClr val="bg1"/>
                  </a:solidFill>
                </a:rPr>
                <a:t>LDA Model</a:t>
              </a:r>
            </a:p>
          </p:txBody>
        </p:sp>
        <p:sp>
          <p:nvSpPr>
            <p:cNvPr id="52" name="Rounded Rectangle 51">
              <a:extLst>
                <a:ext uri="{FF2B5EF4-FFF2-40B4-BE49-F238E27FC236}">
                  <a16:creationId xmlns:a16="http://schemas.microsoft.com/office/drawing/2014/main" id="{3E2558DD-295E-08A5-06E1-5B26D8816CE5}"/>
                </a:ext>
              </a:extLst>
            </p:cNvPr>
            <p:cNvSpPr/>
            <p:nvPr/>
          </p:nvSpPr>
          <p:spPr>
            <a:xfrm>
              <a:off x="7499456" y="22975267"/>
              <a:ext cx="4644572" cy="2015427"/>
            </a:xfrm>
            <a:prstGeom prst="roundRect">
              <a:avLst/>
            </a:prstGeom>
            <a:solidFill>
              <a:schemeClr val="tx1">
                <a:lumMod val="75000"/>
                <a:lumOff val="2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67" dirty="0">
                  <a:solidFill>
                    <a:schemeClr val="bg1"/>
                  </a:solidFill>
                </a:rPr>
                <a:t>Data Cleaning</a:t>
              </a:r>
            </a:p>
          </p:txBody>
        </p:sp>
        <p:sp>
          <p:nvSpPr>
            <p:cNvPr id="53" name="Up Arrow 52">
              <a:extLst>
                <a:ext uri="{FF2B5EF4-FFF2-40B4-BE49-F238E27FC236}">
                  <a16:creationId xmlns:a16="http://schemas.microsoft.com/office/drawing/2014/main" id="{A33F691C-7F7A-5B1A-A29B-1C64B2533CA2}"/>
                </a:ext>
              </a:extLst>
            </p:cNvPr>
            <p:cNvSpPr/>
            <p:nvPr/>
          </p:nvSpPr>
          <p:spPr>
            <a:xfrm rot="10800000">
              <a:off x="9547686" y="22327767"/>
              <a:ext cx="530843" cy="606810"/>
            </a:xfrm>
            <a:prstGeom prst="upArrow">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360"/>
            </a:p>
          </p:txBody>
        </p:sp>
        <p:sp>
          <p:nvSpPr>
            <p:cNvPr id="12" name="Up Arrow 11">
              <a:extLst>
                <a:ext uri="{FF2B5EF4-FFF2-40B4-BE49-F238E27FC236}">
                  <a16:creationId xmlns:a16="http://schemas.microsoft.com/office/drawing/2014/main" id="{2BBCC65F-3042-A905-8965-4EA845D2198D}"/>
                </a:ext>
              </a:extLst>
            </p:cNvPr>
            <p:cNvSpPr/>
            <p:nvPr/>
          </p:nvSpPr>
          <p:spPr>
            <a:xfrm rot="10800000">
              <a:off x="13104536" y="28149465"/>
              <a:ext cx="361817" cy="493114"/>
            </a:xfrm>
            <a:prstGeom prst="upArrow">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360"/>
            </a:p>
          </p:txBody>
        </p:sp>
        <p:sp>
          <p:nvSpPr>
            <p:cNvPr id="14" name="Up Arrow 13">
              <a:extLst>
                <a:ext uri="{FF2B5EF4-FFF2-40B4-BE49-F238E27FC236}">
                  <a16:creationId xmlns:a16="http://schemas.microsoft.com/office/drawing/2014/main" id="{B9B5213C-32F8-468D-B61C-8EBE77EACE31}"/>
                </a:ext>
              </a:extLst>
            </p:cNvPr>
            <p:cNvSpPr/>
            <p:nvPr/>
          </p:nvSpPr>
          <p:spPr>
            <a:xfrm rot="5400000">
              <a:off x="15669529" y="29831557"/>
              <a:ext cx="361817" cy="493114"/>
            </a:xfrm>
            <a:prstGeom prst="upArrow">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360"/>
            </a:p>
          </p:txBody>
        </p:sp>
        <p:sp>
          <p:nvSpPr>
            <p:cNvPr id="16" name="Up Arrow 15">
              <a:extLst>
                <a:ext uri="{FF2B5EF4-FFF2-40B4-BE49-F238E27FC236}">
                  <a16:creationId xmlns:a16="http://schemas.microsoft.com/office/drawing/2014/main" id="{9BB67BF6-9267-1E6A-1718-711DBF7EA135}"/>
                </a:ext>
              </a:extLst>
            </p:cNvPr>
            <p:cNvSpPr/>
            <p:nvPr/>
          </p:nvSpPr>
          <p:spPr>
            <a:xfrm rot="16200000">
              <a:off x="3447370" y="29831557"/>
              <a:ext cx="361817" cy="493114"/>
            </a:xfrm>
            <a:prstGeom prst="upArrow">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360"/>
            </a:p>
          </p:txBody>
        </p:sp>
        <p:sp>
          <p:nvSpPr>
            <p:cNvPr id="19" name="Rounded Rectangle 18">
              <a:extLst>
                <a:ext uri="{FF2B5EF4-FFF2-40B4-BE49-F238E27FC236}">
                  <a16:creationId xmlns:a16="http://schemas.microsoft.com/office/drawing/2014/main" id="{F61A46CB-F005-4FFB-3CED-0284D66EC0B7}"/>
                </a:ext>
              </a:extLst>
            </p:cNvPr>
            <p:cNvSpPr/>
            <p:nvPr/>
          </p:nvSpPr>
          <p:spPr>
            <a:xfrm>
              <a:off x="16277312" y="27612056"/>
              <a:ext cx="2797078" cy="4932115"/>
            </a:xfrm>
            <a:prstGeom prst="roundRect">
              <a:avLst/>
            </a:prstGeom>
            <a:solidFill>
              <a:schemeClr val="tx1">
                <a:lumMod val="75000"/>
                <a:lumOff val="2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dirty="0"/>
                <a:t>The Transformers ML package detects 7 built-in emotions, analyzed in both article titles and full text.</a:t>
              </a:r>
              <a:endParaRPr lang="en-US" sz="3000" dirty="0">
                <a:solidFill>
                  <a:schemeClr val="bg1"/>
                </a:solidFill>
              </a:endParaRPr>
            </a:p>
          </p:txBody>
        </p:sp>
        <p:sp>
          <p:nvSpPr>
            <p:cNvPr id="23" name="Rounded Rectangle 22">
              <a:extLst>
                <a:ext uri="{FF2B5EF4-FFF2-40B4-BE49-F238E27FC236}">
                  <a16:creationId xmlns:a16="http://schemas.microsoft.com/office/drawing/2014/main" id="{4935976A-06DF-E240-CB9E-F7536457C70E}"/>
                </a:ext>
              </a:extLst>
            </p:cNvPr>
            <p:cNvSpPr/>
            <p:nvPr/>
          </p:nvSpPr>
          <p:spPr>
            <a:xfrm>
              <a:off x="501110" y="27612056"/>
              <a:ext cx="2797078" cy="4932115"/>
            </a:xfrm>
            <a:prstGeom prst="roundRect">
              <a:avLst/>
            </a:prstGeom>
            <a:solidFill>
              <a:schemeClr val="tx1">
                <a:lumMod val="75000"/>
                <a:lumOff val="2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A ML Model that identifies themes in fake news, showing 6 topics with frequent words.</a:t>
              </a:r>
              <a:endParaRPr lang="en-US" sz="3000" dirty="0">
                <a:solidFill>
                  <a:schemeClr val="bg1"/>
                </a:solidFill>
              </a:endParaRPr>
            </a:p>
          </p:txBody>
        </p:sp>
      </p:grpSp>
      <p:sp>
        <p:nvSpPr>
          <p:cNvPr id="25" name="TextBox 24">
            <a:extLst>
              <a:ext uri="{FF2B5EF4-FFF2-40B4-BE49-F238E27FC236}">
                <a16:creationId xmlns:a16="http://schemas.microsoft.com/office/drawing/2014/main" id="{903BA0F8-4019-B345-1554-811A327689BA}"/>
              </a:ext>
            </a:extLst>
          </p:cNvPr>
          <p:cNvSpPr txBox="1"/>
          <p:nvPr/>
        </p:nvSpPr>
        <p:spPr>
          <a:xfrm>
            <a:off x="805091" y="21715726"/>
            <a:ext cx="4140526" cy="1569660"/>
          </a:xfrm>
          <a:prstGeom prst="rect">
            <a:avLst/>
          </a:prstGeom>
          <a:noFill/>
        </p:spPr>
        <p:txBody>
          <a:bodyPr wrap="square" rtlCol="0">
            <a:spAutoFit/>
          </a:bodyPr>
          <a:lstStyle/>
          <a:p>
            <a:r>
              <a:rPr lang="en-US" sz="2400" dirty="0"/>
              <a:t>Note* This lays out the steps that we took to go through our whole project, from data collection to data analysis. </a:t>
            </a:r>
          </a:p>
        </p:txBody>
      </p:sp>
    </p:spTree>
    <p:extLst>
      <p:ext uri="{BB962C8B-B14F-4D97-AF65-F5344CB8AC3E}">
        <p14:creationId xmlns:p14="http://schemas.microsoft.com/office/powerpoint/2010/main" val="293675815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4208</TotalTime>
  <Words>858</Words>
  <Application>Microsoft Macintosh PowerPoint</Application>
  <PresentationFormat>Custom</PresentationFormat>
  <Paragraphs>64</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Arial</vt:lpstr>
      <vt:lpstr>Georgia</vt:lpstr>
      <vt:lpstr>Wingdings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M Vasilyev</dc:creator>
  <cp:lastModifiedBy>Daniel M Vasilyev</cp:lastModifiedBy>
  <cp:revision>16</cp:revision>
  <dcterms:created xsi:type="dcterms:W3CDTF">2025-05-01T17:00:19Z</dcterms:created>
  <dcterms:modified xsi:type="dcterms:W3CDTF">2025-05-08T18:19:52Z</dcterms:modified>
</cp:coreProperties>
</file>